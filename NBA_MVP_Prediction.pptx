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test season is predicted by a model trained only on earlier seasons (train = seasons before test year). The first test year is 1990 after 10 training seasons; the last is 2025, giving 36 held-out seasons. Model settings are fixed in the notebook; there is no tuning loop or validation split, so we make no model-selection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only defines the metrics. Top-3 hit rate and Spearman were not in the original notebook; they were computed from the saved backtest predictions (same 36 seasons, same models). Spearman is computed per season across that season's vote recipients and then averaged.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the notebook's walk-forward backtest (1990–2025). Winner accuracy, MAE and RMSE match the notebook's metrics table. Top-3 hit rate and Spearman were computed from the saved backtest predictions. Ridge is best on ranking quality even though Random Forest is best on top-1; Gradient Boosting is best on vote-share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models, columns are seasons. The three regression models agree most of the time: all right in 21 seasons, all wrong in 9 (1993, 1994, 1997, 1998, 2001, 2005, 2006, 2008, 2023). In 2005 and 2006 Steve Nash won while Random Forest ranked him 11th and 10th; a voter-narrative effect is a plausible explanation but is not something the features can test. 2025 predicted vs actual vote shares are from the notebook's latest-season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Wilson intervals and paired p-values are taken directly from the notebook output. Paired test: exact binomial on seasons where the two models disagree, one-sided in favour of model A (the first-named model). RF = Random Forest, GB = Gradient Boosting. Dashed lines mark Stanford's reported ~50% (logistic regression) and ~67% (Naive Bayes); those were produced in a different setting, so they are shown only for 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Stanford's numbers are as reported in the course project and are not reproduced here. Our full-pool setting ranks every vote recipient (average about 15 per season in the test window, range 9–21). The finalist-only row restricts each season to the three players with the highest actual vote share, computed from the same backtest predictions; accuracy is unchanged for Random Forest, Gradient Boosting and Ridge. Because finalists are chosen after the fact, treat it as an approximation of Stanford's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regression on vote share works reasonably well (about two correct picks in three, MVP in the top three in 32 to 34 of 36 seasons), but with 36 seasons we cannot separate the three models from each other or from a Win Shares-only baseline. All figures come from the notebook's backtest.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C8501E"/>
          </a:solidFill>
          <a:ln w="12700">
            <a:solidFill>
              <a:srgbClr val="C8501E"/>
            </a:solidFill>
            <a:prstDash val="solid"/>
          </a:ln>
        </p:spPr>
        <p:txBody>
          <a:bodyPr/>
          <a:p/>
        </p:txBody>
      </p:sp>
      <p:sp>
        <p:nvSpPr>
          <p:cNvPr id="3" name="Text 1"/>
          <p:cNvSpPr txBox="1"/>
          <p:nvPr/>
        </p:nvSpPr>
        <p:spPr>
          <a:xfrm>
            <a:off x="822960" y="1371600"/>
            <a:ext cx="7589520" cy="822960"/>
          </a:xfrm>
          <a:prstGeom prst="rect">
            <a:avLst/>
          </a:prstGeom>
          <a:noFill/>
          <a:ln/>
        </p:spPr>
        <p:txBody>
          <a:bodyPr wrap="square" lIns="0" tIns="0" rIns="0" bIns="0" rtlCol="0" anchor="ctr"/>
          <a:lstStyle/>
          <a:p>
            <a:pPr indent="0" marL="0">
              <a:buNone/>
            </a:pPr>
            <a:r>
              <a:rPr lang="en-US" sz="4200" b="1" dirty="0">
                <a:solidFill>
                  <a:srgbClr val="1F2933"/>
                </a:solidFill>
              </a:rPr>
              <a:t>Who wins NBA MVP?</a:t>
            </a:r>
            <a:endParaRPr lang="en-US" sz="4200" dirty="0"/>
          </a:p>
        </p:txBody>
      </p:sp>
      <p:sp>
        <p:nvSpPr>
          <p:cNvPr id="4" name="Text 2"/>
          <p:cNvSpPr txBox="1"/>
          <p:nvPr/>
        </p:nvSpPr>
        <p:spPr>
          <a:xfrm>
            <a:off x="822960" y="2286000"/>
            <a:ext cx="7315200" cy="731520"/>
          </a:xfrm>
          <a:prstGeom prst="rect">
            <a:avLst/>
          </a:prstGeom>
          <a:noFill/>
          <a:ln/>
        </p:spPr>
        <p:txBody>
          <a:bodyPr wrap="square" lIns="0" tIns="0" rIns="0" bIns="0" rtlCol="0" anchor="ctr"/>
          <a:lstStyle/>
          <a:p>
            <a:pPr indent="0" marL="0">
              <a:buNone/>
            </a:pPr>
            <a:r>
              <a:rPr lang="en-US" sz="1800" dirty="0">
                <a:solidFill>
                  <a:srgbClr val="5F6B76"/>
                </a:solidFill>
              </a:rPr>
              <a:t>Predicting vote share with walk-forward models, compared with a Stanford CS229 reference</a:t>
            </a:r>
            <a:endParaRPr lang="en-US" sz="1800" dirty="0"/>
          </a:p>
        </p:txBody>
      </p:sp>
      <p:sp>
        <p:nvSpPr>
          <p:cNvPr id="5" name="Text 3"/>
          <p:cNvSpPr txBox="1"/>
          <p:nvPr/>
        </p:nvSpPr>
        <p:spPr>
          <a:xfrm>
            <a:off x="822960" y="4114800"/>
            <a:ext cx="7315200" cy="365760"/>
          </a:xfrm>
          <a:prstGeom prst="rect">
            <a:avLst/>
          </a:prstGeom>
          <a:noFill/>
          <a:ln/>
        </p:spPr>
        <p:txBody>
          <a:bodyPr wrap="square" lIns="0" tIns="0" rIns="0" bIns="0" rtlCol="0" anchor="ctr"/>
          <a:lstStyle/>
          <a:p>
            <a:pPr indent="0" marL="0">
              <a:buNone/>
            </a:pPr>
            <a:r>
              <a:rPr lang="en-US" sz="1300" dirty="0">
                <a:solidFill>
                  <a:srgbClr val="5F6B76"/>
                </a:solidFill>
              </a:rPr>
              <a:t>Machine learning project  |  NBA MVP prediction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11480"/>
            <a:ext cx="73152" cy="548640"/>
          </a:xfrm>
          <a:prstGeom prst="rect">
            <a:avLst/>
          </a:prstGeom>
          <a:solidFill>
            <a:srgbClr val="C8501E"/>
          </a:solidFill>
          <a:ln w="12700">
            <a:solidFill>
              <a:srgbClr val="C8501E"/>
            </a:solidFill>
            <a:prstDash val="solid"/>
          </a:ln>
        </p:spPr>
        <p:txBody>
          <a:bodyPr/>
          <a:p/>
        </p:txBody>
      </p:sp>
      <p:sp>
        <p:nvSpPr>
          <p:cNvPr id="3" name="Text 1"/>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Introduction</a:t>
            </a:r>
            <a:endParaRPr lang="en-US" sz="2800" dirty="0"/>
          </a:p>
        </p:txBody>
      </p:sp>
      <p:sp>
        <p:nvSpPr>
          <p:cNvPr id="4" name="Text 2"/>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2</a:t>
            </a:r>
            <a:endParaRPr lang="en-US" sz="1000" dirty="0"/>
          </a:p>
        </p:txBody>
      </p:sp>
      <p:sp>
        <p:nvSpPr>
          <p:cNvPr id="5" name="Text 3"/>
          <p:cNvSpPr txBox="1"/>
          <p:nvPr/>
        </p:nvSpPr>
        <p:spPr>
          <a:xfrm>
            <a:off x="685800" y="1280160"/>
            <a:ext cx="7772400" cy="3108960"/>
          </a:xfrm>
          <a:prstGeom prst="rect">
            <a:avLst/>
          </a:prstGeom>
          <a:noFill/>
          <a:ln/>
        </p:spPr>
        <p:txBody>
          <a:bodyPr wrap="square" rtlCol="0" anchor="t"/>
          <a:lstStyle/>
          <a:p>
            <a:pPr marL="342900" indent="-342900">
              <a:spcAft>
                <a:spcPts val="800"/>
              </a:spcAft>
              <a:buSzPct val="100000"/>
              <a:buChar char="•"/>
            </a:pPr>
            <a:r>
              <a:rPr lang="en-US" sz="1500" dirty="0">
                <a:solidFill>
                  <a:srgbClr val="1F2933"/>
                </a:solidFill>
              </a:rPr>
              <a:t>The MVP is not a pure stat leaderboard. Around 100 media members vote, and each player ends up with a share of the possible points.</a:t>
            </a:r>
            <a:endParaRPr lang="en-US" sz="1500" dirty="0"/>
          </a:p>
          <a:p>
            <a:pPr marL="342900" indent="-342900">
              <a:spcAft>
                <a:spcPts val="800"/>
              </a:spcAft>
              <a:buSzPct val="100000"/>
              <a:buChar char="•"/>
            </a:pPr>
            <a:r>
              <a:rPr lang="en-US" sz="1500" dirty="0">
                <a:solidFill>
                  <a:srgbClr val="1F2933"/>
                </a:solidFill>
              </a:rPr>
              <a:t>Voters weigh scoring, efficiency and impact, but also team success and the size of a player's role.</a:t>
            </a:r>
            <a:endParaRPr lang="en-US" sz="1500" dirty="0"/>
          </a:p>
          <a:p>
            <a:pPr marL="342900" indent="-342900">
              <a:spcAft>
                <a:spcPts val="800"/>
              </a:spcAft>
              <a:buSzPct val="100000"/>
              <a:buChar char="•"/>
            </a:pPr>
            <a:r>
              <a:rPr lang="en-US" sz="1500" dirty="0">
                <a:solidFill>
                  <a:srgbClr val="1F2933"/>
                </a:solidFill>
              </a:rPr>
              <a:t>The question is whether those patterns are consistent enough to learn. If they are, past seasons should help us predict later ones.</a:t>
            </a:r>
            <a:endParaRPr lang="en-US" sz="1500" dirty="0"/>
          </a:p>
          <a:p>
            <a:pPr marL="342900" indent="-342900">
              <a:spcAft>
                <a:spcPts val="800"/>
              </a:spcAft>
              <a:buSzPct val="100000"/>
              <a:buChar char="•"/>
            </a:pPr>
            <a:r>
              <a:rPr lang="en-US" sz="1500" dirty="0">
                <a:solidFill>
                  <a:srgbClr val="1F2933"/>
                </a:solidFill>
              </a:rPr>
              <a:t>Using data from 1980–2025, this project evaluates predictions on held-out seasons from 1990–2025.</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11480"/>
            <a:ext cx="73152" cy="548640"/>
          </a:xfrm>
          <a:prstGeom prst="rect">
            <a:avLst/>
          </a:prstGeom>
          <a:solidFill>
            <a:srgbClr val="C8501E"/>
          </a:solidFill>
          <a:ln w="12700">
            <a:solidFill>
              <a:srgbClr val="C8501E"/>
            </a:solidFill>
            <a:prstDash val="solid"/>
          </a:ln>
        </p:spPr>
        <p:txBody>
          <a:bodyPr/>
          <a:p/>
        </p:txBody>
      </p:sp>
      <p:sp>
        <p:nvSpPr>
          <p:cNvPr id="3" name="Text 1"/>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Problem statement</a:t>
            </a:r>
            <a:endParaRPr lang="en-US" sz="2800" dirty="0"/>
          </a:p>
        </p:txBody>
      </p:sp>
      <p:sp>
        <p:nvSpPr>
          <p:cNvPr id="4" name="Text 2"/>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3</a:t>
            </a:r>
            <a:endParaRPr lang="en-US" sz="1000" dirty="0"/>
          </a:p>
        </p:txBody>
      </p:sp>
      <p:sp>
        <p:nvSpPr>
          <p:cNvPr id="5" name="Shape 3"/>
          <p:cNvSpPr/>
          <p:nvPr/>
        </p:nvSpPr>
        <p:spPr>
          <a:xfrm>
            <a:off x="685800" y="1280160"/>
            <a:ext cx="7772400" cy="1371600"/>
          </a:xfrm>
          <a:prstGeom prst="rect">
            <a:avLst/>
          </a:prstGeom>
          <a:solidFill>
            <a:srgbClr val="F3F1EE"/>
          </a:solidFill>
          <a:ln w="12700">
            <a:solidFill>
              <a:srgbClr val="F3F1EE"/>
            </a:solidFill>
            <a:prstDash val="solid"/>
          </a:ln>
        </p:spPr>
        <p:txBody>
          <a:bodyPr/>
          <a:p/>
        </p:txBody>
      </p:sp>
      <p:sp>
        <p:nvSpPr>
          <p:cNvPr id="6" name="Text 4"/>
          <p:cNvSpPr txBox="1"/>
          <p:nvPr/>
        </p:nvSpPr>
        <p:spPr>
          <a:xfrm>
            <a:off x="868680" y="1325880"/>
            <a:ext cx="7406640" cy="1280160"/>
          </a:xfrm>
          <a:prstGeom prst="rect">
            <a:avLst/>
          </a:prstGeom>
          <a:noFill/>
          <a:ln/>
        </p:spPr>
        <p:txBody>
          <a:bodyPr wrap="square" lIns="0" tIns="0" rIns="0" bIns="0" rtlCol="0" anchor="ctr"/>
          <a:lstStyle/>
          <a:p>
            <a:pPr indent="0" marL="0">
              <a:buNone/>
            </a:pPr>
            <a:r>
              <a:rPr lang="en-US" sz="1400" dirty="0">
                <a:solidFill>
                  <a:srgbClr val="1F2933"/>
                </a:solidFill>
              </a:rPr>
              <a:t>The MVP is decided by media vote, so the outcome mixes individual stats with team success and narrative. This project builds a regression model on historical seasons, ranks recorded vote recipients by predicted vote share, and picks the top-ranked player as the predicted MVP.</a:t>
            </a:r>
            <a:endParaRPr lang="en-US" sz="1400" dirty="0"/>
          </a:p>
        </p:txBody>
      </p:sp>
      <p:sp>
        <p:nvSpPr>
          <p:cNvPr id="7" name="Text 5"/>
          <p:cNvSpPr txBox="1"/>
          <p:nvPr/>
        </p:nvSpPr>
        <p:spPr>
          <a:xfrm>
            <a:off x="685800" y="2880360"/>
            <a:ext cx="7772400" cy="1554480"/>
          </a:xfrm>
          <a:prstGeom prst="rect">
            <a:avLst/>
          </a:prstGeom>
          <a:noFill/>
          <a:ln/>
        </p:spPr>
        <p:txBody>
          <a:bodyPr wrap="square" rtlCol="0" anchor="t"/>
          <a:lstStyle/>
          <a:p>
            <a:pPr marL="342900" indent="-342900">
              <a:spcAft>
                <a:spcPts val="800"/>
              </a:spcAft>
              <a:buSzPct val="100000"/>
              <a:buChar char="•"/>
            </a:pPr>
            <a:r>
              <a:rPr lang="en-US" sz="1500" dirty="0">
                <a:solidFill>
                  <a:srgbClr val="1F2933"/>
                </a:solidFill>
              </a:rPr>
              <a:t>Input: one row per MVP vote recipient per season (box + advanced stats + team context)</a:t>
            </a:r>
            <a:endParaRPr lang="en-US" sz="1500" dirty="0"/>
          </a:p>
          <a:p>
            <a:pPr marL="342900" indent="-342900">
              <a:spcAft>
                <a:spcPts val="800"/>
              </a:spcAft>
              <a:buSzPct val="100000"/>
              <a:buChar char="•"/>
            </a:pPr>
            <a:r>
              <a:rPr lang="en-US" sz="1500" dirty="0">
                <a:solidFill>
                  <a:srgbClr val="1F2933"/>
                </a:solidFill>
              </a:rPr>
              <a:t>Output: predicted vote share per player, then ranked inside each season</a:t>
            </a:r>
            <a:endParaRPr lang="en-US" sz="1500" dirty="0"/>
          </a:p>
          <a:p>
            <a:pPr marL="342900" indent="-342900">
              <a:spcAft>
                <a:spcPts val="800"/>
              </a:spcAft>
              <a:buSzPct val="100000"/>
              <a:buChar char="•"/>
            </a:pPr>
            <a:r>
              <a:rPr lang="en-US" sz="1500" dirty="0">
                <a:solidFill>
                  <a:srgbClr val="1F2933"/>
                </a:solidFill>
              </a:rPr>
              <a:t>Prediction: the player with the highest predicted share is the MVP pick</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11480"/>
            <a:ext cx="73152" cy="548640"/>
          </a:xfrm>
          <a:prstGeom prst="rect">
            <a:avLst/>
          </a:prstGeom>
          <a:solidFill>
            <a:srgbClr val="C8501E"/>
          </a:solidFill>
          <a:ln w="12700">
            <a:solidFill>
              <a:srgbClr val="C8501E"/>
            </a:solidFill>
            <a:prstDash val="solid"/>
          </a:ln>
        </p:spPr>
        <p:txBody>
          <a:bodyPr/>
          <a:p/>
        </p:txBody>
      </p:sp>
      <p:sp>
        <p:nvSpPr>
          <p:cNvPr id="3" name="Text 1"/>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Database</a:t>
            </a:r>
            <a:endParaRPr lang="en-US" sz="2800" dirty="0"/>
          </a:p>
        </p:txBody>
      </p:sp>
      <p:sp>
        <p:nvSpPr>
          <p:cNvPr id="4" name="Text 2"/>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4</a:t>
            </a:r>
            <a:endParaRPr lang="en-US" sz="1000" dirty="0"/>
          </a:p>
        </p:txBody>
      </p:sp>
      <p:sp>
        <p:nvSpPr>
          <p:cNvPr id="5" name="Text 3"/>
          <p:cNvSpPr txBox="1"/>
          <p:nvPr/>
        </p:nvSpPr>
        <p:spPr>
          <a:xfrm>
            <a:off x="685800" y="1280160"/>
            <a:ext cx="4846320" cy="3383280"/>
          </a:xfrm>
          <a:prstGeom prst="rect">
            <a:avLst/>
          </a:prstGeom>
          <a:noFill/>
          <a:ln/>
        </p:spPr>
        <p:txBody>
          <a:bodyPr wrap="square" rtlCol="0" anchor="t"/>
          <a:lstStyle/>
          <a:p>
            <a:pPr marL="342900" indent="-342900">
              <a:spcAft>
                <a:spcPts val="800"/>
              </a:spcAft>
              <a:buSzPct val="100000"/>
              <a:buChar char="•"/>
            </a:pPr>
            <a:r>
              <a:rPr lang="en-US" sz="1350" dirty="0">
                <a:solidFill>
                  <a:srgbClr val="1F2933"/>
                </a:solidFill>
              </a:rPr>
              <a:t>Source: public master_table.csv (DavidYoo912/nba_mvp), scraped from Basketball-Reference. Covers every player who received MVP votes from 1980–2025.</a:t>
            </a:r>
            <a:endParaRPr lang="en-US" sz="1350" dirty="0"/>
          </a:p>
          <a:p>
            <a:pPr marL="342900" indent="-342900">
              <a:spcAft>
                <a:spcPts val="800"/>
              </a:spcAft>
              <a:buSzPct val="100000"/>
              <a:buChar char="•"/>
            </a:pPr>
            <a:r>
              <a:rPr lang="en-US" sz="1350" dirty="0">
                <a:solidFill>
                  <a:srgbClr val="1F2933"/>
                </a:solidFill>
              </a:rPr>
              <a:t>The notebook downloads the CSV directly (no local database). After cleaning: 724 player-seasons, 45 original columns.</a:t>
            </a:r>
            <a:endParaRPr lang="en-US" sz="1350" dirty="0"/>
          </a:p>
          <a:p>
            <a:pPr marL="342900" indent="-342900">
              <a:spcAft>
                <a:spcPts val="800"/>
              </a:spcAft>
              <a:buSzPct val="100000"/>
              <a:buChar char="•"/>
            </a:pPr>
            <a:r>
              <a:rPr lang="en-US" sz="1350" dirty="0">
                <a:solidFill>
                  <a:srgbClr val="1F2933"/>
                </a:solidFill>
              </a:rPr>
              <a:t>Each row is one player in one season: age, games, minutes, points, rebounds, assists, steals, blocks, shooting percentages,</a:t>
            </a:r>
            <a:endParaRPr lang="en-US" sz="1350" dirty="0"/>
          </a:p>
          <a:p>
            <a:pPr marL="342900" indent="-342900">
              <a:spcAft>
                <a:spcPts val="800"/>
              </a:spcAft>
              <a:buSzPct val="100000"/>
              <a:buChar char="•"/>
            </a:pPr>
            <a:r>
              <a:rPr lang="en-US" sz="1350" dirty="0">
                <a:solidFill>
                  <a:srgbClr val="1F2933"/>
                </a:solidFill>
              </a:rPr>
              <a:t>PER, true shooting, win shares, BPM, VORP, usage rate, plus team wins, win %, and playoff seed.</a:t>
            </a:r>
            <a:endParaRPr lang="en-US" sz="1350" dirty="0"/>
          </a:p>
          <a:p>
            <a:pPr marL="342900" indent="-342900">
              <a:spcAft>
                <a:spcPts val="800"/>
              </a:spcAft>
              <a:buSzPct val="100000"/>
              <a:buChar char="•"/>
            </a:pPr>
            <a:r>
              <a:rPr lang="en-US" sz="1350" dirty="0">
                <a:solidFill>
                  <a:srgbClr val="1F2933"/>
                </a:solidFill>
              </a:rPr>
              <a:t>Target is Share — the fraction of possible MVP voting points. Only vote recipients are in the table.</a:t>
            </a:r>
            <a:endParaRPr lang="en-US" sz="1350" dirty="0"/>
          </a:p>
        </p:txBody>
      </p:sp>
      <p:sp>
        <p:nvSpPr>
          <p:cNvPr id="6" name="Shape 4"/>
          <p:cNvSpPr/>
          <p:nvPr/>
        </p:nvSpPr>
        <p:spPr>
          <a:xfrm>
            <a:off x="5760720" y="1280160"/>
            <a:ext cx="2743200" cy="3337560"/>
          </a:xfrm>
          <a:prstGeom prst="rect">
            <a:avLst/>
          </a:prstGeom>
          <a:solidFill>
            <a:srgbClr val="F3F1EE"/>
          </a:solidFill>
          <a:ln w="12700">
            <a:solidFill>
              <a:srgbClr val="F3F1EE"/>
            </a:solidFill>
            <a:prstDash val="solid"/>
          </a:ln>
        </p:spPr>
        <p:txBody>
          <a:bodyPr/>
          <a:p/>
        </p:txBody>
      </p:sp>
      <p:sp>
        <p:nvSpPr>
          <p:cNvPr id="7" name="Text 5"/>
          <p:cNvSpPr txBox="1"/>
          <p:nvPr/>
        </p:nvSpPr>
        <p:spPr>
          <a:xfrm>
            <a:off x="5943600" y="1389888"/>
            <a:ext cx="2377440" cy="365760"/>
          </a:xfrm>
          <a:prstGeom prst="rect">
            <a:avLst/>
          </a:prstGeom>
          <a:noFill/>
          <a:ln/>
        </p:spPr>
        <p:txBody>
          <a:bodyPr wrap="square" lIns="0" tIns="0" rIns="0" bIns="0" rtlCol="0" anchor="ctr"/>
          <a:lstStyle/>
          <a:p>
            <a:pPr indent="0" marL="0">
              <a:buNone/>
            </a:pPr>
            <a:r>
              <a:rPr lang="en-US" sz="1500" b="1" dirty="0">
                <a:solidFill>
                  <a:srgbClr val="C8501E"/>
                </a:solidFill>
              </a:rPr>
              <a:t>Cleaning rules</a:t>
            </a:r>
            <a:endParaRPr lang="en-US" sz="1500" dirty="0"/>
          </a:p>
        </p:txBody>
      </p:sp>
      <p:sp>
        <p:nvSpPr>
          <p:cNvPr id="8" name="Text 6"/>
          <p:cNvSpPr txBox="1"/>
          <p:nvPr/>
        </p:nvSpPr>
        <p:spPr>
          <a:xfrm>
            <a:off x="5943600" y="1783080"/>
            <a:ext cx="2377440" cy="2743200"/>
          </a:xfrm>
          <a:prstGeom prst="rect">
            <a:avLst/>
          </a:prstGeom>
          <a:noFill/>
          <a:ln/>
        </p:spPr>
        <p:txBody>
          <a:bodyPr wrap="square" lIns="0" tIns="0" rIns="0" bIns="0" rtlCol="0" anchor="t"/>
          <a:lstStyle/>
          <a:p>
            <a:pPr indent="0" marL="0">
              <a:buNone/>
            </a:pPr>
            <a:r>
              <a:rPr lang="en-US" sz="1250" dirty="0">
                <a:solidFill>
                  <a:srgbClr val="1F2933"/>
                </a:solidFill>
              </a:rPr>
              <a:t>No season filter (source starts in 1980). Drop missing Share or Player and 1 duplicate row (725 → 724); check for ties at the maximum share.</a:t>
            </a:r>
            <a:endParaRPr lang="en-US" sz="1250" dirty="0"/>
          </a:p>
          <a:p>
            <a:pPr indent="0" marL="0">
              <a:buNone/>
            </a:pPr>
            <a:endParaRPr lang="en-US" sz="1250" dirty="0"/>
          </a:p>
          <a:p>
            <a:pPr indent="0" marL="0">
              <a:buNone/>
            </a:pPr>
            <a:r>
              <a:rPr lang="en-US" sz="1250" dirty="0">
                <a:solidFill>
                  <a:srgbClr val="1F2933"/>
                </a:solidFill>
              </a:rPr>
              <a:t>No extra games filter beyond what the source already contains.</a:t>
            </a:r>
            <a:endParaRPr lang="en-US" sz="1250" dirty="0"/>
          </a:p>
          <a:p>
            <a:pPr indent="0" marL="0">
              <a:buNone/>
            </a:pPr>
            <a:endParaRPr lang="en-US" sz="1250" dirty="0"/>
          </a:p>
          <a:p>
            <a:pPr indent="0" marL="0">
              <a:buNone/>
            </a:pPr>
            <a:r>
              <a:rPr lang="en-US" sz="1250" dirty="0">
                <a:solidFill>
                  <a:srgbClr val="1F2933"/>
                </a:solidFill>
              </a:rPr>
              <a:t>Leakage columns (Rank, First, Pts Won, Pts Max, Share) are blocked from features.</a:t>
            </a:r>
            <a:endParaRPr lang="en-US" sz="1250" dirty="0"/>
          </a:p>
          <a:p>
            <a:pPr indent="0" marL="0">
              <a:buNone/>
            </a:pPr>
            <a:endParaRPr lang="en-US" sz="1250" dirty="0"/>
          </a:p>
          <a:p>
            <a:pPr indent="0" marL="0">
              <a:buNone/>
            </a:pPr>
            <a:r>
              <a:rPr lang="en-US" sz="1250" dirty="0">
                <a:solidFill>
                  <a:srgbClr val="1F2933"/>
                </a:solidFill>
              </a:rPr>
              <a:t>Missing values are filled with the median inside each model pipeline.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11480"/>
            <a:ext cx="73152" cy="548640"/>
          </a:xfrm>
          <a:prstGeom prst="rect">
            <a:avLst/>
          </a:prstGeom>
          <a:solidFill>
            <a:srgbClr val="C8501E"/>
          </a:solidFill>
          <a:ln w="12700">
            <a:solidFill>
              <a:srgbClr val="C8501E"/>
            </a:solidFill>
            <a:prstDash val="solid"/>
          </a:ln>
        </p:spPr>
        <p:txBody>
          <a:bodyPr/>
          <a:p/>
        </p:txBody>
      </p:sp>
      <p:sp>
        <p:nvSpPr>
          <p:cNvPr id="3" name="Text 1"/>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Solution: how the model works</a:t>
            </a:r>
            <a:endParaRPr lang="en-US" sz="2800" dirty="0"/>
          </a:p>
        </p:txBody>
      </p:sp>
      <p:sp>
        <p:nvSpPr>
          <p:cNvPr id="4" name="Text 2"/>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5</a:t>
            </a:r>
            <a:endParaRPr lang="en-US" sz="1000" dirty="0"/>
          </a:p>
        </p:txBody>
      </p:sp>
      <p:sp>
        <p:nvSpPr>
          <p:cNvPr id="5" name="Shape 3"/>
          <p:cNvSpPr/>
          <p:nvPr/>
        </p:nvSpPr>
        <p:spPr>
          <a:xfrm>
            <a:off x="685800" y="1280160"/>
            <a:ext cx="2468880" cy="3108960"/>
          </a:xfrm>
          <a:prstGeom prst="rect">
            <a:avLst/>
          </a:prstGeom>
          <a:solidFill>
            <a:srgbClr val="F3F1EE"/>
          </a:solidFill>
          <a:ln w="12700">
            <a:solidFill>
              <a:srgbClr val="F3F1EE"/>
            </a:solidFill>
            <a:prstDash val="solid"/>
          </a:ln>
        </p:spPr>
        <p:txBody>
          <a:bodyPr/>
          <a:p/>
        </p:txBody>
      </p:sp>
      <p:sp>
        <p:nvSpPr>
          <p:cNvPr id="6" name="Text 4"/>
          <p:cNvSpPr txBox="1"/>
          <p:nvPr/>
        </p:nvSpPr>
        <p:spPr>
          <a:xfrm>
            <a:off x="868680" y="1389888"/>
            <a:ext cx="2103120" cy="365760"/>
          </a:xfrm>
          <a:prstGeom prst="rect">
            <a:avLst/>
          </a:prstGeom>
          <a:noFill/>
          <a:ln/>
        </p:spPr>
        <p:txBody>
          <a:bodyPr wrap="square" lIns="0" tIns="0" rIns="0" bIns="0" rtlCol="0" anchor="ctr"/>
          <a:lstStyle/>
          <a:p>
            <a:pPr indent="0" marL="0">
              <a:buNone/>
            </a:pPr>
            <a:r>
              <a:rPr lang="en-US" sz="1500" b="1" dirty="0">
                <a:solidFill>
                  <a:srgbClr val="C8501E"/>
                </a:solidFill>
              </a:rPr>
              <a:t>1. Features</a:t>
            </a:r>
            <a:endParaRPr lang="en-US" sz="1500" dirty="0"/>
          </a:p>
        </p:txBody>
      </p:sp>
      <p:sp>
        <p:nvSpPr>
          <p:cNvPr id="7" name="Text 5"/>
          <p:cNvSpPr txBox="1"/>
          <p:nvPr/>
        </p:nvSpPr>
        <p:spPr>
          <a:xfrm>
            <a:off x="868680" y="1783080"/>
            <a:ext cx="2103120" cy="2514600"/>
          </a:xfrm>
          <a:prstGeom prst="rect">
            <a:avLst/>
          </a:prstGeom>
          <a:noFill/>
          <a:ln/>
        </p:spPr>
        <p:txBody>
          <a:bodyPr wrap="square" lIns="0" tIns="0" rIns="0" bIns="0" rtlCol="0" anchor="t"/>
          <a:lstStyle/>
          <a:p>
            <a:pPr indent="0" marL="0">
              <a:buNone/>
            </a:pPr>
            <a:r>
              <a:rPr lang="en-US" sz="1250" dirty="0">
                <a:solidFill>
                  <a:srgbClr val="1F2933"/>
                </a:solidFill>
              </a:rPr>
              <a:t>32 numeric predictors: Age, G, MP, PTS, TRB, AST, STL, BLK, FG%, 3P%, FT%, WS, WS/48, W, W/L%, seed, PER, TS%, 3PAr, FTr, rebound/assist/steal/block %, TOV%, USG%, OBPM, DBPM, BPM, VORP.</a:t>
            </a:r>
            <a:endParaRPr lang="en-US" sz="1250" dirty="0"/>
          </a:p>
        </p:txBody>
      </p:sp>
      <p:sp>
        <p:nvSpPr>
          <p:cNvPr id="8" name="Shape 6"/>
          <p:cNvSpPr/>
          <p:nvPr/>
        </p:nvSpPr>
        <p:spPr>
          <a:xfrm>
            <a:off x="3337560" y="1280160"/>
            <a:ext cx="2468880" cy="3108960"/>
          </a:xfrm>
          <a:prstGeom prst="rect">
            <a:avLst/>
          </a:prstGeom>
          <a:solidFill>
            <a:srgbClr val="F3F1EE"/>
          </a:solidFill>
          <a:ln w="12700">
            <a:solidFill>
              <a:srgbClr val="F3F1EE"/>
            </a:solidFill>
            <a:prstDash val="solid"/>
          </a:ln>
        </p:spPr>
        <p:txBody>
          <a:bodyPr/>
          <a:p/>
        </p:txBody>
      </p:sp>
      <p:sp>
        <p:nvSpPr>
          <p:cNvPr id="9" name="Text 7"/>
          <p:cNvSpPr txBox="1"/>
          <p:nvPr/>
        </p:nvSpPr>
        <p:spPr>
          <a:xfrm>
            <a:off x="3520440" y="1389888"/>
            <a:ext cx="2103120" cy="365760"/>
          </a:xfrm>
          <a:prstGeom prst="rect">
            <a:avLst/>
          </a:prstGeom>
          <a:noFill/>
          <a:ln/>
        </p:spPr>
        <p:txBody>
          <a:bodyPr wrap="square" lIns="0" tIns="0" rIns="0" bIns="0" rtlCol="0" anchor="ctr"/>
          <a:lstStyle/>
          <a:p>
            <a:pPr indent="0" marL="0">
              <a:buNone/>
            </a:pPr>
            <a:r>
              <a:rPr lang="en-US" sz="1500" b="1" dirty="0">
                <a:solidFill>
                  <a:srgbClr val="C8501E"/>
                </a:solidFill>
              </a:rPr>
              <a:t>2. Feature screening</a:t>
            </a:r>
            <a:endParaRPr lang="en-US" sz="1500" dirty="0"/>
          </a:p>
        </p:txBody>
      </p:sp>
      <p:sp>
        <p:nvSpPr>
          <p:cNvPr id="10" name="Text 8"/>
          <p:cNvSpPr txBox="1"/>
          <p:nvPr/>
        </p:nvSpPr>
        <p:spPr>
          <a:xfrm>
            <a:off x="3520440" y="1783080"/>
            <a:ext cx="2103120" cy="2514600"/>
          </a:xfrm>
          <a:prstGeom prst="rect">
            <a:avLst/>
          </a:prstGeom>
          <a:noFill/>
          <a:ln/>
        </p:spPr>
        <p:txBody>
          <a:bodyPr wrap="square" lIns="0" tIns="0" rIns="0" bIns="0" rtlCol="0" anchor="t"/>
          <a:lstStyle/>
          <a:p>
            <a:pPr indent="0" marL="0">
              <a:buNone/>
            </a:pPr>
            <a:r>
              <a:rPr lang="en-US" sz="1250" dirty="0">
                <a:solidFill>
                  <a:srgbClr val="1F2933"/>
                </a:solidFill>
              </a:rPr>
              <a:t>Identifiers, vote columns (Share, Rank, First, Pts Won/Max) and any column containing 'share'/'vote'/'mvp' are blocked. Only non-voting predictor columns are used; season-level statistics are available after the season.</a:t>
            </a:r>
            <a:endParaRPr lang="en-US" sz="1250" dirty="0"/>
          </a:p>
        </p:txBody>
      </p:sp>
      <p:sp>
        <p:nvSpPr>
          <p:cNvPr id="11" name="Shape 9"/>
          <p:cNvSpPr/>
          <p:nvPr/>
        </p:nvSpPr>
        <p:spPr>
          <a:xfrm>
            <a:off x="5989320" y="1280160"/>
            <a:ext cx="2468880" cy="3108960"/>
          </a:xfrm>
          <a:prstGeom prst="rect">
            <a:avLst/>
          </a:prstGeom>
          <a:solidFill>
            <a:srgbClr val="F3F1EE"/>
          </a:solidFill>
          <a:ln w="12700">
            <a:solidFill>
              <a:srgbClr val="F3F1EE"/>
            </a:solidFill>
            <a:prstDash val="solid"/>
          </a:ln>
        </p:spPr>
        <p:txBody>
          <a:bodyPr/>
          <a:p/>
        </p:txBody>
      </p:sp>
      <p:sp>
        <p:nvSpPr>
          <p:cNvPr id="12" name="Text 10"/>
          <p:cNvSpPr txBox="1"/>
          <p:nvPr/>
        </p:nvSpPr>
        <p:spPr>
          <a:xfrm>
            <a:off x="6172200" y="1389888"/>
            <a:ext cx="2103120" cy="365760"/>
          </a:xfrm>
          <a:prstGeom prst="rect">
            <a:avLst/>
          </a:prstGeom>
          <a:noFill/>
          <a:ln/>
        </p:spPr>
        <p:txBody>
          <a:bodyPr wrap="square" lIns="0" tIns="0" rIns="0" bIns="0" rtlCol="0" anchor="ctr"/>
          <a:lstStyle/>
          <a:p>
            <a:pPr indent="0" marL="0">
              <a:buNone/>
            </a:pPr>
            <a:r>
              <a:rPr lang="en-US" sz="1500" b="1" dirty="0">
                <a:solidFill>
                  <a:srgbClr val="C8501E"/>
                </a:solidFill>
              </a:rPr>
              <a:t>3. Target</a:t>
            </a:r>
            <a:endParaRPr lang="en-US" sz="1500" dirty="0"/>
          </a:p>
        </p:txBody>
      </p:sp>
      <p:sp>
        <p:nvSpPr>
          <p:cNvPr id="13" name="Text 11"/>
          <p:cNvSpPr txBox="1"/>
          <p:nvPr/>
        </p:nvSpPr>
        <p:spPr>
          <a:xfrm>
            <a:off x="6172200" y="1783080"/>
            <a:ext cx="2103120" cy="2514600"/>
          </a:xfrm>
          <a:prstGeom prst="rect">
            <a:avLst/>
          </a:prstGeom>
          <a:noFill/>
          <a:ln/>
        </p:spPr>
        <p:txBody>
          <a:bodyPr wrap="square" lIns="0" tIns="0" rIns="0" bIns="0" rtlCol="0" anchor="t"/>
          <a:lstStyle/>
          <a:p>
            <a:pPr indent="0" marL="0">
              <a:buNone/>
            </a:pPr>
            <a:r>
              <a:rPr lang="en-US" sz="1250" dirty="0">
                <a:solidFill>
                  <a:srgbClr val="1F2933"/>
                </a:solidFill>
              </a:rPr>
              <a:t>Continuous regression on Share (0–1). Predictions clipped to [0,1], ranked within the season; highest predicted share = predicted MVP.</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le marker"/>
          <p:cNvSpPr/>
          <p:nvPr/>
        </p:nvSpPr>
        <p:spPr>
          <a:xfrm>
            <a:off x="457200" y="411480"/>
            <a:ext cx="73152" cy="548640"/>
          </a:xfrm>
          <a:prstGeom prst="rect">
            <a:avLst/>
          </a:prstGeom>
          <a:solidFill>
            <a:srgbClr val="C8501E"/>
          </a:solidFill>
          <a:ln w="12700">
            <a:solidFill>
              <a:srgbClr val="C8501E"/>
            </a:solidFill>
            <a:prstDash val="solid"/>
          </a:ln>
        </p:spPr>
      </p:sp>
      <p:sp>
        <p:nvSpPr>
          <p:cNvPr id="3" name="Title"/>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Solution: models and testing</a:t>
            </a:r>
            <a:endParaRPr lang="en-US" sz="2800" dirty="0"/>
          </a:p>
        </p:txBody>
      </p:sp>
      <p:sp>
        <p:nvSpPr>
          <p:cNvPr id="4" name="Page number"/>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6</a:t>
            </a:r>
            <a:endParaRPr lang="en-US" sz="1000" dirty="0"/>
          </a:p>
        </p:txBody>
      </p:sp>
      <p:sp>
        <p:nvSpPr>
          <p:cNvPr id="5" name="Evaluation strategy"/>
          <p:cNvSpPr txBox="1"/>
          <p:nvPr/>
        </p:nvSpPr>
        <p:spPr>
          <a:xfrm>
            <a:off x="685800" y="1188720"/>
            <a:ext cx="4069080" cy="3337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rPr>
              <a:t>Walk-forward: for each test season, train only on earlier seasons, then predict that season.</a:t>
            </a:r>
            <a:endParaRPr lang="en-US" sz="1300" dirty="0"/>
          </a:p>
          <a:p>
            <a:pPr marL="342900" indent="-342900">
              <a:spcAft>
                <a:spcPts val="600"/>
              </a:spcAft>
              <a:buSzPct val="100000"/>
              <a:buChar char="•"/>
            </a:pPr>
            <a:r>
              <a:rPr lang="en-US" sz="1300" dirty="0">
                <a:solidFill>
                  <a:srgbClr val="1F2933"/>
                </a:solidFill>
              </a:rPr>
              <a:t>Test seasons 1990–2025 (36 in total), after an initial 10-season training history.</a:t>
            </a:r>
            <a:endParaRPr lang="en-US" sz="1300" dirty="0"/>
          </a:p>
          <a:p>
            <a:pPr marL="342900" indent="-342900">
              <a:spcAft>
                <a:spcPts val="600"/>
              </a:spcAft>
              <a:buSzPct val="100000"/>
              <a:buChar char="•"/>
            </a:pPr>
            <a:r>
              <a:rPr lang="en-US" sz="1300" dirty="0">
                <a:solidFill>
                  <a:srgbClr val="1F2933"/>
                </a:solidFill>
              </a:rPr>
              <a:t>Models: Ridge (α = 10), Random Forest (400 trees), HistGradientBoosting (250 iterations).</a:t>
            </a:r>
            <a:endParaRPr lang="en-US" sz="1300" dirty="0"/>
          </a:p>
          <a:p>
            <a:pPr marL="342900" indent="-342900">
              <a:spcAft>
                <a:spcPts val="600"/>
              </a:spcAft>
              <a:buSzPct val="100000"/>
              <a:buChar char="•"/>
            </a:pPr>
            <a:r>
              <a:rPr lang="en-US" sz="1300" dirty="0">
                <a:solidFill>
                  <a:srgbClr val="1F2933"/>
                </a:solidFill>
              </a:rPr>
              <a:t>Baselines: prior-season vote share and Win Shares-only Ridge.</a:t>
            </a:r>
            <a:endParaRPr lang="en-US" sz="1300" dirty="0"/>
          </a:p>
          <a:p>
            <a:pPr marL="342900" indent="-342900">
              <a:spcAft>
                <a:spcPts val="600"/>
              </a:spcAft>
              <a:buSzPct val="100000"/>
              <a:buChar char="•"/>
            </a:pPr>
            <a:r>
              <a:rPr lang="en-US" sz="1300" dirty="0">
                <a:solidFill>
                  <a:srgbClr val="1F2933"/>
                </a:solidFill>
              </a:rPr>
              <a:t>MVP voting outcomes (Share, Rank, First, Pts Won/Max) are excluded; imputation and scaling are fit on training seasons only.</a:t>
            </a:r>
            <a:endParaRPr lang="en-US" sz="1300" dirty="0"/>
          </a:p>
          <a:p>
            <a:pPr marL="342900" indent="-342900">
              <a:spcAft>
                <a:spcPts val="600"/>
              </a:spcAft>
              <a:buSzPct val="100000"/>
              <a:buChar char="•"/>
            </a:pPr>
            <a:r>
              <a:rPr lang="en-US" sz="1300" dirty="0">
                <a:solidFill>
                  <a:srgbClr val="1F2933"/>
                </a:solidFill>
              </a:rPr>
              <a:t>Hyperparameters are fixed in the notebook: no tuning loop and no separate validation split.</a:t>
            </a:r>
            <a:endParaRPr lang="en-US" sz="1300" dirty="0"/>
          </a:p>
        </p:txBody>
      </p:sp>
      <p:sp>
        <p:nvSpPr>
          <p:cNvPr id="6" name="Diagram heading"/>
          <p:cNvSpPr txBox="1"/>
          <p:nvPr/>
        </p:nvSpPr>
        <p:spPr>
          <a:xfrm>
            <a:off x="5029200" y="1188720"/>
            <a:ext cx="3429000" cy="274320"/>
          </a:xfrm>
          <a:prstGeom prst="rect">
            <a:avLst/>
          </a:prstGeom>
          <a:noFill/>
          <a:ln/>
        </p:spPr>
        <p:txBody>
          <a:bodyPr wrap="square" lIns="0" tIns="0" rIns="0" bIns="0" rtlCol="0" anchor="ctr"/>
          <a:lstStyle/>
          <a:p>
            <a:pPr indent="0" marL="0">
              <a:buNone/>
            </a:pPr>
            <a:r>
              <a:rPr lang="en-US" sz="1300" b="1" dirty="0">
                <a:solidFill>
                  <a:srgbClr val="C8501E"/>
                </a:solidFill>
              </a:rPr>
              <a:t>Walk-forward splits (schematic)</a:t>
            </a:r>
            <a:endParaRPr lang="en-US" sz="1300" dirty="0"/>
          </a:p>
        </p:txBody>
      </p:sp>
      <p:sp>
        <p:nvSpPr>
          <p:cNvPr id="7" name="Split label 1990"/>
          <p:cNvSpPr txBox="1"/>
          <p:nvPr/>
        </p:nvSpPr>
        <p:spPr>
          <a:xfrm>
            <a:off x="5029200" y="1691640"/>
            <a:ext cx="822960" cy="237744"/>
          </a:xfrm>
          <a:prstGeom prst="rect">
            <a:avLst/>
          </a:prstGeom>
          <a:noFill/>
          <a:ln/>
        </p:spPr>
        <p:txBody>
          <a:bodyPr wrap="square" lIns="0" tIns="0" rIns="0" bIns="0" rtlCol="0" anchor="ctr"/>
          <a:lstStyle/>
          <a:p>
            <a:pPr indent="0" marL="0">
              <a:buNone/>
            </a:pPr>
            <a:r>
              <a:rPr lang="en-US" sz="1100" dirty="0">
                <a:solidFill>
                  <a:srgbClr val="1F2933"/>
                </a:solidFill>
              </a:rPr>
              <a:t>Test 1990</a:t>
            </a:r>
            <a:endParaRPr lang="en-US" sz="1100" dirty="0"/>
          </a:p>
        </p:txBody>
      </p:sp>
      <p:sp>
        <p:nvSpPr>
          <p:cNvPr id="8" name="Training span 1990"/>
          <p:cNvSpPr/>
          <p:nvPr/>
        </p:nvSpPr>
        <p:spPr>
          <a:xfrm>
            <a:off x="5897880" y="1691640"/>
            <a:ext cx="556591" cy="237744"/>
          </a:xfrm>
          <a:prstGeom prst="rect">
            <a:avLst/>
          </a:prstGeom>
          <a:solidFill>
            <a:srgbClr val="9AA5B1"/>
          </a:solidFill>
          <a:ln w="6350">
            <a:solidFill>
              <a:srgbClr val="9AA5B1"/>
            </a:solidFill>
            <a:prstDash val="solid"/>
          </a:ln>
        </p:spPr>
      </p:sp>
      <p:sp>
        <p:nvSpPr>
          <p:cNvPr id="9" name="Test season 1990"/>
          <p:cNvSpPr/>
          <p:nvPr/>
        </p:nvSpPr>
        <p:spPr>
          <a:xfrm>
            <a:off x="6454471" y="1691640"/>
            <a:ext cx="128016" cy="237744"/>
          </a:xfrm>
          <a:prstGeom prst="rect">
            <a:avLst/>
          </a:prstGeom>
          <a:solidFill>
            <a:srgbClr val="C8501E"/>
          </a:solidFill>
          <a:ln w="6350">
            <a:solidFill>
              <a:srgbClr val="C8501E"/>
            </a:solidFill>
            <a:prstDash val="solid"/>
          </a:ln>
        </p:spPr>
      </p:sp>
      <p:sp>
        <p:nvSpPr>
          <p:cNvPr id="10" name="Split label 1991"/>
          <p:cNvSpPr txBox="1"/>
          <p:nvPr/>
        </p:nvSpPr>
        <p:spPr>
          <a:xfrm>
            <a:off x="5029200" y="2148840"/>
            <a:ext cx="822960" cy="237744"/>
          </a:xfrm>
          <a:prstGeom prst="rect">
            <a:avLst/>
          </a:prstGeom>
          <a:noFill/>
          <a:ln/>
        </p:spPr>
        <p:txBody>
          <a:bodyPr wrap="square" lIns="0" tIns="0" rIns="0" bIns="0" rtlCol="0" anchor="ctr"/>
          <a:lstStyle/>
          <a:p>
            <a:pPr indent="0" marL="0">
              <a:buNone/>
            </a:pPr>
            <a:r>
              <a:rPr lang="en-US" sz="1100" dirty="0">
                <a:solidFill>
                  <a:srgbClr val="1F2933"/>
                </a:solidFill>
              </a:rPr>
              <a:t>Test 1991</a:t>
            </a:r>
            <a:endParaRPr lang="en-US" sz="1100" dirty="0"/>
          </a:p>
        </p:txBody>
      </p:sp>
      <p:sp>
        <p:nvSpPr>
          <p:cNvPr id="11" name="Training span 1991"/>
          <p:cNvSpPr/>
          <p:nvPr/>
        </p:nvSpPr>
        <p:spPr>
          <a:xfrm>
            <a:off x="5897880" y="2148840"/>
            <a:ext cx="612250" cy="237744"/>
          </a:xfrm>
          <a:prstGeom prst="rect">
            <a:avLst/>
          </a:prstGeom>
          <a:solidFill>
            <a:srgbClr val="9AA5B1"/>
          </a:solidFill>
          <a:ln w="6350">
            <a:solidFill>
              <a:srgbClr val="9AA5B1"/>
            </a:solidFill>
            <a:prstDash val="solid"/>
          </a:ln>
        </p:spPr>
      </p:sp>
      <p:sp>
        <p:nvSpPr>
          <p:cNvPr id="12" name="Test season 1991"/>
          <p:cNvSpPr/>
          <p:nvPr/>
        </p:nvSpPr>
        <p:spPr>
          <a:xfrm>
            <a:off x="6510130" y="2148840"/>
            <a:ext cx="128016" cy="237744"/>
          </a:xfrm>
          <a:prstGeom prst="rect">
            <a:avLst/>
          </a:prstGeom>
          <a:solidFill>
            <a:srgbClr val="C8501E"/>
          </a:solidFill>
          <a:ln w="6350">
            <a:solidFill>
              <a:srgbClr val="C8501E"/>
            </a:solidFill>
            <a:prstDash val="solid"/>
          </a:ln>
        </p:spPr>
      </p:sp>
      <p:sp>
        <p:nvSpPr>
          <p:cNvPr id="13" name="Split label 1992"/>
          <p:cNvSpPr txBox="1"/>
          <p:nvPr/>
        </p:nvSpPr>
        <p:spPr>
          <a:xfrm>
            <a:off x="5029200" y="2606040"/>
            <a:ext cx="822960" cy="237744"/>
          </a:xfrm>
          <a:prstGeom prst="rect">
            <a:avLst/>
          </a:prstGeom>
          <a:noFill/>
          <a:ln/>
        </p:spPr>
        <p:txBody>
          <a:bodyPr wrap="square" lIns="0" tIns="0" rIns="0" bIns="0" rtlCol="0" anchor="ctr"/>
          <a:lstStyle/>
          <a:p>
            <a:pPr indent="0" marL="0">
              <a:buNone/>
            </a:pPr>
            <a:r>
              <a:rPr lang="en-US" sz="1100" dirty="0">
                <a:solidFill>
                  <a:srgbClr val="1F2933"/>
                </a:solidFill>
              </a:rPr>
              <a:t>Test 1992</a:t>
            </a:r>
            <a:endParaRPr lang="en-US" sz="1100" dirty="0"/>
          </a:p>
        </p:txBody>
      </p:sp>
      <p:sp>
        <p:nvSpPr>
          <p:cNvPr id="14" name="Training span 1992"/>
          <p:cNvSpPr/>
          <p:nvPr/>
        </p:nvSpPr>
        <p:spPr>
          <a:xfrm>
            <a:off x="5897880" y="2606040"/>
            <a:ext cx="667910" cy="237744"/>
          </a:xfrm>
          <a:prstGeom prst="rect">
            <a:avLst/>
          </a:prstGeom>
          <a:solidFill>
            <a:srgbClr val="9AA5B1"/>
          </a:solidFill>
          <a:ln w="6350">
            <a:solidFill>
              <a:srgbClr val="9AA5B1"/>
            </a:solidFill>
            <a:prstDash val="solid"/>
          </a:ln>
        </p:spPr>
      </p:sp>
      <p:sp>
        <p:nvSpPr>
          <p:cNvPr id="15" name="Test season 1992"/>
          <p:cNvSpPr/>
          <p:nvPr/>
        </p:nvSpPr>
        <p:spPr>
          <a:xfrm>
            <a:off x="6565790" y="2606040"/>
            <a:ext cx="128016" cy="237744"/>
          </a:xfrm>
          <a:prstGeom prst="rect">
            <a:avLst/>
          </a:prstGeom>
          <a:solidFill>
            <a:srgbClr val="C8501E"/>
          </a:solidFill>
          <a:ln w="6350">
            <a:solidFill>
              <a:srgbClr val="C8501E"/>
            </a:solidFill>
            <a:prstDash val="solid"/>
          </a:ln>
        </p:spPr>
      </p:sp>
      <p:sp>
        <p:nvSpPr>
          <p:cNvPr id="16" name="Split label 2025"/>
          <p:cNvSpPr txBox="1"/>
          <p:nvPr/>
        </p:nvSpPr>
        <p:spPr>
          <a:xfrm>
            <a:off x="5029200" y="3383280"/>
            <a:ext cx="822960" cy="237744"/>
          </a:xfrm>
          <a:prstGeom prst="rect">
            <a:avLst/>
          </a:prstGeom>
          <a:noFill/>
          <a:ln/>
        </p:spPr>
        <p:txBody>
          <a:bodyPr wrap="square" lIns="0" tIns="0" rIns="0" bIns="0" rtlCol="0" anchor="ctr"/>
          <a:lstStyle/>
          <a:p>
            <a:pPr indent="0" marL="0">
              <a:buNone/>
            </a:pPr>
            <a:r>
              <a:rPr lang="en-US" sz="1100" dirty="0">
                <a:solidFill>
                  <a:srgbClr val="1F2933"/>
                </a:solidFill>
              </a:rPr>
              <a:t>Test 2025</a:t>
            </a:r>
            <a:endParaRPr lang="en-US" sz="1100" dirty="0"/>
          </a:p>
        </p:txBody>
      </p:sp>
      <p:sp>
        <p:nvSpPr>
          <p:cNvPr id="17" name="Training span 2025"/>
          <p:cNvSpPr/>
          <p:nvPr/>
        </p:nvSpPr>
        <p:spPr>
          <a:xfrm>
            <a:off x="5897880" y="3383280"/>
            <a:ext cx="2504661" cy="237744"/>
          </a:xfrm>
          <a:prstGeom prst="rect">
            <a:avLst/>
          </a:prstGeom>
          <a:solidFill>
            <a:srgbClr val="9AA5B1"/>
          </a:solidFill>
          <a:ln w="6350">
            <a:solidFill>
              <a:srgbClr val="9AA5B1"/>
            </a:solidFill>
            <a:prstDash val="solid"/>
          </a:ln>
        </p:spPr>
      </p:sp>
      <p:sp>
        <p:nvSpPr>
          <p:cNvPr id="18" name="Test season 2025"/>
          <p:cNvSpPr/>
          <p:nvPr/>
        </p:nvSpPr>
        <p:spPr>
          <a:xfrm>
            <a:off x="8402541" y="3383280"/>
            <a:ext cx="128016" cy="237744"/>
          </a:xfrm>
          <a:prstGeom prst="rect">
            <a:avLst/>
          </a:prstGeom>
          <a:solidFill>
            <a:srgbClr val="C8501E"/>
          </a:solidFill>
          <a:ln w="6350">
            <a:solidFill>
              <a:srgbClr val="C8501E"/>
            </a:solidFill>
            <a:prstDash val="solid"/>
          </a:ln>
        </p:spPr>
      </p:sp>
      <p:sp>
        <p:nvSpPr>
          <p:cNvPr id="19" name="Ellipsis"/>
          <p:cNvSpPr txBox="1"/>
          <p:nvPr/>
        </p:nvSpPr>
        <p:spPr>
          <a:xfrm>
            <a:off x="5897880" y="2898648"/>
            <a:ext cx="1097280" cy="365760"/>
          </a:xfrm>
          <a:prstGeom prst="rect">
            <a:avLst/>
          </a:prstGeom>
          <a:noFill/>
          <a:ln/>
        </p:spPr>
        <p:txBody>
          <a:bodyPr wrap="square" lIns="0" tIns="0" rIns="0" bIns="0" rtlCol="0" anchor="ctr"/>
          <a:lstStyle/>
          <a:p>
            <a:pPr indent="0" marL="0">
              <a:buNone/>
            </a:pPr>
            <a:r>
              <a:rPr lang="en-US" sz="1800" dirty="0">
                <a:solidFill>
                  <a:srgbClr val="5F6B76"/>
                </a:solidFill>
              </a:rPr>
              <a:t>⋮</a:t>
            </a:r>
            <a:endParaRPr lang="en-US" sz="1800" dirty="0"/>
          </a:p>
        </p:txBody>
      </p:sp>
      <p:sp>
        <p:nvSpPr>
          <p:cNvPr id="20" name="Axis start"/>
          <p:cNvSpPr txBox="1"/>
          <p:nvPr/>
        </p:nvSpPr>
        <p:spPr>
          <a:xfrm>
            <a:off x="5669280" y="3703320"/>
            <a:ext cx="457200" cy="201168"/>
          </a:xfrm>
          <a:prstGeom prst="rect">
            <a:avLst/>
          </a:prstGeom>
          <a:noFill/>
          <a:ln/>
        </p:spPr>
        <p:txBody>
          <a:bodyPr wrap="square" lIns="0" tIns="0" rIns="0" bIns="0" rtlCol="0" anchor="ctr"/>
          <a:lstStyle/>
          <a:p>
            <a:pPr algn="ctr" indent="0" marL="0">
              <a:buNone/>
            </a:pPr>
            <a:r>
              <a:rPr lang="en-US" sz="1000" dirty="0">
                <a:solidFill>
                  <a:srgbClr val="5F6B76"/>
                </a:solidFill>
              </a:rPr>
              <a:t>1980</a:t>
            </a:r>
            <a:endParaRPr lang="en-US" sz="1000" dirty="0"/>
          </a:p>
        </p:txBody>
      </p:sp>
      <p:sp>
        <p:nvSpPr>
          <p:cNvPr id="21" name="Axis end"/>
          <p:cNvSpPr txBox="1"/>
          <p:nvPr/>
        </p:nvSpPr>
        <p:spPr>
          <a:xfrm>
            <a:off x="8229600" y="3703320"/>
            <a:ext cx="457200" cy="201168"/>
          </a:xfrm>
          <a:prstGeom prst="rect">
            <a:avLst/>
          </a:prstGeom>
          <a:noFill/>
          <a:ln/>
        </p:spPr>
        <p:txBody>
          <a:bodyPr wrap="square" lIns="0" tIns="0" rIns="0" bIns="0" rtlCol="0" anchor="ctr"/>
          <a:lstStyle/>
          <a:p>
            <a:pPr algn="ctr" indent="0" marL="0">
              <a:buNone/>
            </a:pPr>
            <a:r>
              <a:rPr lang="en-US" sz="1000" dirty="0">
                <a:solidFill>
                  <a:srgbClr val="5F6B76"/>
                </a:solidFill>
              </a:rPr>
              <a:t>2025</a:t>
            </a:r>
            <a:endParaRPr lang="en-US" sz="1000" dirty="0"/>
          </a:p>
        </p:txBody>
      </p:sp>
      <p:sp>
        <p:nvSpPr>
          <p:cNvPr id="22" name="Legend training"/>
          <p:cNvSpPr/>
          <p:nvPr/>
        </p:nvSpPr>
        <p:spPr>
          <a:xfrm>
            <a:off x="5029200" y="4069080"/>
            <a:ext cx="146304" cy="146304"/>
          </a:xfrm>
          <a:prstGeom prst="rect">
            <a:avLst/>
          </a:prstGeom>
          <a:solidFill>
            <a:srgbClr val="9AA5B1"/>
          </a:solidFill>
          <a:ln w="6350">
            <a:solidFill>
              <a:srgbClr val="9AA5B1"/>
            </a:solidFill>
            <a:prstDash val="solid"/>
          </a:ln>
        </p:spPr>
      </p:sp>
      <p:sp>
        <p:nvSpPr>
          <p:cNvPr id="23" name="Legend training text"/>
          <p:cNvSpPr txBox="1"/>
          <p:nvPr/>
        </p:nvSpPr>
        <p:spPr>
          <a:xfrm>
            <a:off x="5257800" y="4023360"/>
            <a:ext cx="3200400" cy="237744"/>
          </a:xfrm>
          <a:prstGeom prst="rect">
            <a:avLst/>
          </a:prstGeom>
          <a:noFill/>
          <a:ln/>
        </p:spPr>
        <p:txBody>
          <a:bodyPr wrap="square" lIns="0" tIns="0" rIns="0" bIns="0" rtlCol="0" anchor="ctr"/>
          <a:lstStyle/>
          <a:p>
            <a:pPr indent="0" marL="0">
              <a:buNone/>
            </a:pPr>
            <a:r>
              <a:rPr lang="en-US" sz="1100" dirty="0">
                <a:solidFill>
                  <a:srgbClr val="1F2933"/>
                </a:solidFill>
              </a:rPr>
              <a:t>Training: earlier seasons only</a:t>
            </a:r>
            <a:endParaRPr lang="en-US" sz="1100" dirty="0"/>
          </a:p>
        </p:txBody>
      </p:sp>
      <p:sp>
        <p:nvSpPr>
          <p:cNvPr id="24" name="Legend test"/>
          <p:cNvSpPr/>
          <p:nvPr/>
        </p:nvSpPr>
        <p:spPr>
          <a:xfrm>
            <a:off x="5029200" y="4343400"/>
            <a:ext cx="146304" cy="146304"/>
          </a:xfrm>
          <a:prstGeom prst="rect">
            <a:avLst/>
          </a:prstGeom>
          <a:solidFill>
            <a:srgbClr val="C8501E"/>
          </a:solidFill>
          <a:ln w="6350">
            <a:solidFill>
              <a:srgbClr val="C8501E"/>
            </a:solidFill>
            <a:prstDash val="solid"/>
          </a:ln>
        </p:spPr>
      </p:sp>
      <p:sp>
        <p:nvSpPr>
          <p:cNvPr id="25" name="Legend test text"/>
          <p:cNvSpPr txBox="1"/>
          <p:nvPr/>
        </p:nvSpPr>
        <p:spPr>
          <a:xfrm>
            <a:off x="5257800" y="4297680"/>
            <a:ext cx="3200400" cy="237744"/>
          </a:xfrm>
          <a:prstGeom prst="rect">
            <a:avLst/>
          </a:prstGeom>
          <a:noFill/>
          <a:ln/>
        </p:spPr>
        <p:txBody>
          <a:bodyPr wrap="square" lIns="0" tIns="0" rIns="0" bIns="0" rtlCol="0" anchor="ctr"/>
          <a:lstStyle/>
          <a:p>
            <a:pPr indent="0" marL="0">
              <a:buNone/>
            </a:pPr>
            <a:r>
              <a:rPr lang="en-US" sz="1100" dirty="0">
                <a:solidFill>
                  <a:srgbClr val="1F2933"/>
                </a:solidFill>
              </a:rPr>
              <a:t>Held-out test season (test block widened for visibility)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le marker"/>
          <p:cNvSpPr/>
          <p:nvPr/>
        </p:nvSpPr>
        <p:spPr>
          <a:xfrm>
            <a:off x="457200" y="411480"/>
            <a:ext cx="73152" cy="548640"/>
          </a:xfrm>
          <a:prstGeom prst="rect">
            <a:avLst/>
          </a:prstGeom>
          <a:solidFill>
            <a:srgbClr val="C8501E"/>
          </a:solidFill>
          <a:ln w="12700">
            <a:solidFill>
              <a:srgbClr val="C8501E"/>
            </a:solidFill>
            <a:prstDash val="solid"/>
          </a:ln>
        </p:spPr>
      </p:sp>
      <p:sp>
        <p:nvSpPr>
          <p:cNvPr id="3" name="Title"/>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How results are measured</a:t>
            </a:r>
            <a:endParaRPr lang="en-US" sz="2800" dirty="0"/>
          </a:p>
        </p:txBody>
      </p:sp>
      <p:sp>
        <p:nvSpPr>
          <p:cNvPr id="4" name="Page number"/>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7</a:t>
            </a:r>
            <a:endParaRPr lang="en-US" sz="1000" dirty="0"/>
          </a:p>
        </p:txBody>
      </p:sp>
      <p:sp>
        <p:nvSpPr>
          <p:cNvPr id="5" name="Metric card 1"/>
          <p:cNvSpPr/>
          <p:nvPr/>
        </p:nvSpPr>
        <p:spPr>
          <a:xfrm>
            <a:off x="685800" y="1280160"/>
            <a:ext cx="2468880" cy="1463040"/>
          </a:xfrm>
          <a:prstGeom prst="rect">
            <a:avLst/>
          </a:prstGeom>
          <a:solidFill>
            <a:srgbClr val="F3F1EE"/>
          </a:solidFill>
          <a:ln w="12700">
            <a:solidFill>
              <a:srgbClr val="F3F1EE"/>
            </a:solidFill>
            <a:prstDash val="solid"/>
          </a:ln>
        </p:spPr>
      </p:sp>
      <p:sp>
        <p:nvSpPr>
          <p:cNvPr id="6" name="Metric heading 1"/>
          <p:cNvSpPr txBox="1"/>
          <p:nvPr/>
        </p:nvSpPr>
        <p:spPr>
          <a:xfrm>
            <a:off x="868680" y="1389888"/>
            <a:ext cx="2103120" cy="365760"/>
          </a:xfrm>
          <a:prstGeom prst="rect">
            <a:avLst/>
          </a:prstGeom>
          <a:noFill/>
          <a:ln/>
        </p:spPr>
        <p:txBody>
          <a:bodyPr wrap="square" lIns="0" tIns="0" rIns="0" bIns="0" rtlCol="0" anchor="ctr"/>
          <a:lstStyle/>
          <a:p>
            <a:pPr indent="0" marL="0">
              <a:buNone/>
            </a:pPr>
            <a:r>
              <a:rPr lang="en-US" sz="1500" b="1" dirty="0">
                <a:solidFill>
                  <a:srgbClr val="C8501E"/>
                </a:solidFill>
              </a:rPr>
              <a:t>Winner accuracy</a:t>
            </a:r>
            <a:endParaRPr lang="en-US" sz="1500" dirty="0"/>
          </a:p>
        </p:txBody>
      </p:sp>
      <p:sp>
        <p:nvSpPr>
          <p:cNvPr id="7" name="Metric text 1"/>
          <p:cNvSpPr txBox="1"/>
          <p:nvPr/>
        </p:nvSpPr>
        <p:spPr>
          <a:xfrm>
            <a:off x="868680" y="1810512"/>
            <a:ext cx="2103120" cy="868680"/>
          </a:xfrm>
          <a:prstGeom prst="rect">
            <a:avLst/>
          </a:prstGeom>
          <a:noFill/>
          <a:ln/>
        </p:spPr>
        <p:txBody>
          <a:bodyPr wrap="square" lIns="0" tIns="0" rIns="0" bIns="0" rtlCol="0" anchor="t"/>
          <a:lstStyle/>
          <a:p>
            <a:pPr indent="0" marL="0">
              <a:buNone/>
            </a:pPr>
            <a:r>
              <a:rPr lang="en-US" sz="1250" dirty="0">
                <a:solidFill>
                  <a:srgbClr val="1F2933"/>
                </a:solidFill>
              </a:rPr>
              <a:t>Primary metric. Is the model's highest predicted share the actual MVP? Counted over 36 seasons.</a:t>
            </a:r>
            <a:endParaRPr lang="en-US" sz="1250" dirty="0"/>
          </a:p>
        </p:txBody>
      </p:sp>
      <p:sp>
        <p:nvSpPr>
          <p:cNvPr id="8" name="Metric card 2"/>
          <p:cNvSpPr/>
          <p:nvPr/>
        </p:nvSpPr>
        <p:spPr>
          <a:xfrm>
            <a:off x="3337560" y="1280160"/>
            <a:ext cx="2468880" cy="1463040"/>
          </a:xfrm>
          <a:prstGeom prst="rect">
            <a:avLst/>
          </a:prstGeom>
          <a:solidFill>
            <a:srgbClr val="F3F1EE"/>
          </a:solidFill>
          <a:ln w="12700">
            <a:solidFill>
              <a:srgbClr val="F3F1EE"/>
            </a:solidFill>
            <a:prstDash val="solid"/>
          </a:ln>
        </p:spPr>
      </p:sp>
      <p:sp>
        <p:nvSpPr>
          <p:cNvPr id="9" name="Metric heading 2"/>
          <p:cNvSpPr txBox="1"/>
          <p:nvPr/>
        </p:nvSpPr>
        <p:spPr>
          <a:xfrm>
            <a:off x="3520440" y="1389888"/>
            <a:ext cx="2103120" cy="365760"/>
          </a:xfrm>
          <a:prstGeom prst="rect">
            <a:avLst/>
          </a:prstGeom>
          <a:noFill/>
          <a:ln/>
        </p:spPr>
        <p:txBody>
          <a:bodyPr wrap="square" lIns="0" tIns="0" rIns="0" bIns="0" rtlCol="0" anchor="ctr"/>
          <a:lstStyle/>
          <a:p>
            <a:pPr indent="0" marL="0">
              <a:buNone/>
            </a:pPr>
            <a:r>
              <a:rPr lang="en-US" sz="1500" b="1" dirty="0">
                <a:solidFill>
                  <a:srgbClr val="C8501E"/>
                </a:solidFill>
              </a:rPr>
              <a:t>Top-3 hit rate</a:t>
            </a:r>
            <a:endParaRPr lang="en-US" sz="1500" dirty="0"/>
          </a:p>
        </p:txBody>
      </p:sp>
      <p:sp>
        <p:nvSpPr>
          <p:cNvPr id="10" name="Metric text 2"/>
          <p:cNvSpPr txBox="1"/>
          <p:nvPr/>
        </p:nvSpPr>
        <p:spPr>
          <a:xfrm>
            <a:off x="3520440" y="1810512"/>
            <a:ext cx="2103120" cy="868680"/>
          </a:xfrm>
          <a:prstGeom prst="rect">
            <a:avLst/>
          </a:prstGeom>
          <a:noFill/>
          <a:ln/>
        </p:spPr>
        <p:txBody>
          <a:bodyPr wrap="square" lIns="0" tIns="0" rIns="0" bIns="0" rtlCol="0" anchor="t"/>
          <a:lstStyle/>
          <a:p>
            <a:pPr indent="0" marL="0">
              <a:buNone/>
            </a:pPr>
            <a:r>
              <a:rPr lang="en-US" sz="1250" dirty="0">
                <a:solidFill>
                  <a:srgbClr val="1F2933"/>
                </a:solidFill>
              </a:rPr>
              <a:t>Is the actual MVP among the model's three highest predicted shares in that season?</a:t>
            </a:r>
            <a:endParaRPr lang="en-US" sz="1250" dirty="0"/>
          </a:p>
        </p:txBody>
      </p:sp>
      <p:sp>
        <p:nvSpPr>
          <p:cNvPr id="11" name="Metric card 3"/>
          <p:cNvSpPr/>
          <p:nvPr/>
        </p:nvSpPr>
        <p:spPr>
          <a:xfrm>
            <a:off x="5989320" y="1280160"/>
            <a:ext cx="2468880" cy="1463040"/>
          </a:xfrm>
          <a:prstGeom prst="rect">
            <a:avLst/>
          </a:prstGeom>
          <a:solidFill>
            <a:srgbClr val="F3F1EE"/>
          </a:solidFill>
          <a:ln w="12700">
            <a:solidFill>
              <a:srgbClr val="F3F1EE"/>
            </a:solidFill>
            <a:prstDash val="solid"/>
          </a:ln>
        </p:spPr>
      </p:sp>
      <p:sp>
        <p:nvSpPr>
          <p:cNvPr id="12" name="Metric heading 3"/>
          <p:cNvSpPr txBox="1"/>
          <p:nvPr/>
        </p:nvSpPr>
        <p:spPr>
          <a:xfrm>
            <a:off x="6172200" y="1389888"/>
            <a:ext cx="2103120" cy="365760"/>
          </a:xfrm>
          <a:prstGeom prst="rect">
            <a:avLst/>
          </a:prstGeom>
          <a:noFill/>
          <a:ln/>
        </p:spPr>
        <p:txBody>
          <a:bodyPr wrap="square" lIns="0" tIns="0" rIns="0" bIns="0" rtlCol="0" anchor="ctr"/>
          <a:lstStyle/>
          <a:p>
            <a:pPr indent="0" marL="0">
              <a:buNone/>
            </a:pPr>
            <a:r>
              <a:rPr lang="en-US" sz="1500" b="1" dirty="0">
                <a:solidFill>
                  <a:srgbClr val="C8501E"/>
                </a:solidFill>
              </a:rPr>
              <a:t>Spearman correlation</a:t>
            </a:r>
            <a:endParaRPr lang="en-US" sz="1500" dirty="0"/>
          </a:p>
        </p:txBody>
      </p:sp>
      <p:sp>
        <p:nvSpPr>
          <p:cNvPr id="13" name="Metric text 3"/>
          <p:cNvSpPr txBox="1"/>
          <p:nvPr/>
        </p:nvSpPr>
        <p:spPr>
          <a:xfrm>
            <a:off x="6172200" y="1810512"/>
            <a:ext cx="2103120" cy="868680"/>
          </a:xfrm>
          <a:prstGeom prst="rect">
            <a:avLst/>
          </a:prstGeom>
          <a:noFill/>
          <a:ln/>
        </p:spPr>
        <p:txBody>
          <a:bodyPr wrap="square" lIns="0" tIns="0" rIns="0" bIns="0" rtlCol="0" anchor="t"/>
          <a:lstStyle/>
          <a:p>
            <a:pPr indent="0" marL="0">
              <a:buNone/>
            </a:pPr>
            <a:r>
              <a:rPr lang="en-US" sz="1250" dirty="0">
                <a:solidFill>
                  <a:srgbClr val="1F2933"/>
                </a:solidFill>
              </a:rPr>
              <a:t>Rank agreement between predicted and actual vote share within a season, averaged over 36 seasons.</a:t>
            </a:r>
            <a:endParaRPr lang="en-US" sz="1250" dirty="0"/>
          </a:p>
        </p:txBody>
      </p:sp>
      <p:sp>
        <p:nvSpPr>
          <p:cNvPr id="14" name="Metric card 4"/>
          <p:cNvSpPr/>
          <p:nvPr/>
        </p:nvSpPr>
        <p:spPr>
          <a:xfrm>
            <a:off x="685800" y="2926080"/>
            <a:ext cx="2468880" cy="1463040"/>
          </a:xfrm>
          <a:prstGeom prst="rect">
            <a:avLst/>
          </a:prstGeom>
          <a:solidFill>
            <a:srgbClr val="F3F1EE"/>
          </a:solidFill>
          <a:ln w="12700">
            <a:solidFill>
              <a:srgbClr val="F3F1EE"/>
            </a:solidFill>
            <a:prstDash val="solid"/>
          </a:ln>
        </p:spPr>
      </p:sp>
      <p:sp>
        <p:nvSpPr>
          <p:cNvPr id="15" name="Metric heading 4"/>
          <p:cNvSpPr txBox="1"/>
          <p:nvPr/>
        </p:nvSpPr>
        <p:spPr>
          <a:xfrm>
            <a:off x="868680" y="3035808"/>
            <a:ext cx="2103120" cy="365760"/>
          </a:xfrm>
          <a:prstGeom prst="rect">
            <a:avLst/>
          </a:prstGeom>
          <a:noFill/>
          <a:ln/>
        </p:spPr>
        <p:txBody>
          <a:bodyPr wrap="square" lIns="0" tIns="0" rIns="0" bIns="0" rtlCol="0" anchor="ctr"/>
          <a:lstStyle/>
          <a:p>
            <a:pPr indent="0" marL="0">
              <a:buNone/>
            </a:pPr>
            <a:r>
              <a:rPr lang="en-US" sz="1500" b="1" dirty="0">
                <a:solidFill>
                  <a:srgbClr val="C8501E"/>
                </a:solidFill>
              </a:rPr>
              <a:t>MAE / RMSE</a:t>
            </a:r>
            <a:endParaRPr lang="en-US" sz="1500" dirty="0"/>
          </a:p>
        </p:txBody>
      </p:sp>
      <p:sp>
        <p:nvSpPr>
          <p:cNvPr id="16" name="Metric text 4"/>
          <p:cNvSpPr txBox="1"/>
          <p:nvPr/>
        </p:nvSpPr>
        <p:spPr>
          <a:xfrm>
            <a:off x="868680" y="3456432"/>
            <a:ext cx="2103120" cy="868680"/>
          </a:xfrm>
          <a:prstGeom prst="rect">
            <a:avLst/>
          </a:prstGeom>
          <a:noFill/>
          <a:ln/>
        </p:spPr>
        <p:txBody>
          <a:bodyPr wrap="square" lIns="0" tIns="0" rIns="0" bIns="0" rtlCol="0" anchor="t"/>
          <a:lstStyle/>
          <a:p>
            <a:pPr indent="0" marL="0">
              <a:buNone/>
            </a:pPr>
            <a:r>
              <a:rPr lang="en-US" sz="1250" dirty="0">
                <a:solidFill>
                  <a:srgbClr val="1F2933"/>
                </a:solidFill>
              </a:rPr>
              <a:t>How far predicted vote shares are from actual Share across all player-seasons. RMSE punishes big misses more.</a:t>
            </a:r>
            <a:endParaRPr lang="en-US" sz="1250" dirty="0"/>
          </a:p>
        </p:txBody>
      </p:sp>
      <p:sp>
        <p:nvSpPr>
          <p:cNvPr id="17" name="Metric card 5"/>
          <p:cNvSpPr/>
          <p:nvPr/>
        </p:nvSpPr>
        <p:spPr>
          <a:xfrm>
            <a:off x="3337560" y="2926080"/>
            <a:ext cx="2468880" cy="1463040"/>
          </a:xfrm>
          <a:prstGeom prst="rect">
            <a:avLst/>
          </a:prstGeom>
          <a:solidFill>
            <a:srgbClr val="F3F1EE"/>
          </a:solidFill>
          <a:ln w="12700">
            <a:solidFill>
              <a:srgbClr val="F3F1EE"/>
            </a:solidFill>
            <a:prstDash val="solid"/>
          </a:ln>
        </p:spPr>
      </p:sp>
      <p:sp>
        <p:nvSpPr>
          <p:cNvPr id="18" name="Metric heading 5"/>
          <p:cNvSpPr txBox="1"/>
          <p:nvPr/>
        </p:nvSpPr>
        <p:spPr>
          <a:xfrm>
            <a:off x="3520440" y="3035808"/>
            <a:ext cx="2103120" cy="365760"/>
          </a:xfrm>
          <a:prstGeom prst="rect">
            <a:avLst/>
          </a:prstGeom>
          <a:noFill/>
          <a:ln/>
        </p:spPr>
        <p:txBody>
          <a:bodyPr wrap="square" lIns="0" tIns="0" rIns="0" bIns="0" rtlCol="0" anchor="ctr"/>
          <a:lstStyle/>
          <a:p>
            <a:pPr indent="0" marL="0">
              <a:buNone/>
            </a:pPr>
            <a:r>
              <a:rPr lang="en-US" sz="1500" b="1" dirty="0">
                <a:solidFill>
                  <a:srgbClr val="C8501E"/>
                </a:solidFill>
              </a:rPr>
              <a:t>Wilson 95% CI</a:t>
            </a:r>
            <a:endParaRPr lang="en-US" sz="1500" dirty="0"/>
          </a:p>
        </p:txBody>
      </p:sp>
      <p:sp>
        <p:nvSpPr>
          <p:cNvPr id="19" name="Metric text 5"/>
          <p:cNvSpPr txBox="1"/>
          <p:nvPr/>
        </p:nvSpPr>
        <p:spPr>
          <a:xfrm>
            <a:off x="3520440" y="3456432"/>
            <a:ext cx="2103120" cy="868680"/>
          </a:xfrm>
          <a:prstGeom prst="rect">
            <a:avLst/>
          </a:prstGeom>
          <a:noFill/>
          <a:ln/>
        </p:spPr>
        <p:txBody>
          <a:bodyPr wrap="square" lIns="0" tIns="0" rIns="0" bIns="0" rtlCol="0" anchor="t"/>
          <a:lstStyle/>
          <a:p>
            <a:pPr indent="0" marL="0">
              <a:buNone/>
            </a:pPr>
            <a:r>
              <a:rPr lang="en-US" sz="1250" dirty="0">
                <a:solidFill>
                  <a:srgbClr val="1F2933"/>
                </a:solidFill>
              </a:rPr>
              <a:t>Uncertainty band around winner accuracy. It is wide with only 36 seasons.</a:t>
            </a:r>
            <a:endParaRPr lang="en-US" sz="1250" dirty="0"/>
          </a:p>
        </p:txBody>
      </p:sp>
      <p:sp>
        <p:nvSpPr>
          <p:cNvPr id="20" name="Metric card 6"/>
          <p:cNvSpPr/>
          <p:nvPr/>
        </p:nvSpPr>
        <p:spPr>
          <a:xfrm>
            <a:off x="5989320" y="2926080"/>
            <a:ext cx="2468880" cy="1463040"/>
          </a:xfrm>
          <a:prstGeom prst="rect">
            <a:avLst/>
          </a:prstGeom>
          <a:solidFill>
            <a:srgbClr val="F3F1EE"/>
          </a:solidFill>
          <a:ln w="12700">
            <a:solidFill>
              <a:srgbClr val="F3F1EE"/>
            </a:solidFill>
            <a:prstDash val="solid"/>
          </a:ln>
        </p:spPr>
      </p:sp>
      <p:sp>
        <p:nvSpPr>
          <p:cNvPr id="21" name="Metric heading 6"/>
          <p:cNvSpPr txBox="1"/>
          <p:nvPr/>
        </p:nvSpPr>
        <p:spPr>
          <a:xfrm>
            <a:off x="6172200" y="3035808"/>
            <a:ext cx="2103120" cy="365760"/>
          </a:xfrm>
          <a:prstGeom prst="rect">
            <a:avLst/>
          </a:prstGeom>
          <a:noFill/>
          <a:ln/>
        </p:spPr>
        <p:txBody>
          <a:bodyPr wrap="square" lIns="0" tIns="0" rIns="0" bIns="0" rtlCol="0" anchor="ctr"/>
          <a:lstStyle/>
          <a:p>
            <a:pPr indent="0" marL="0">
              <a:buNone/>
            </a:pPr>
            <a:r>
              <a:rPr lang="en-US" sz="1500" b="1" dirty="0">
                <a:solidFill>
                  <a:srgbClr val="C8501E"/>
                </a:solidFill>
              </a:rPr>
              <a:t>Paired season tests</a:t>
            </a:r>
            <a:endParaRPr lang="en-US" sz="1500" dirty="0"/>
          </a:p>
        </p:txBody>
      </p:sp>
      <p:sp>
        <p:nvSpPr>
          <p:cNvPr id="22" name="Metric text 6"/>
          <p:cNvSpPr txBox="1"/>
          <p:nvPr/>
        </p:nvSpPr>
        <p:spPr>
          <a:xfrm>
            <a:off x="6172200" y="3456432"/>
            <a:ext cx="2103120" cy="868680"/>
          </a:xfrm>
          <a:prstGeom prst="rect">
            <a:avLst/>
          </a:prstGeom>
          <a:noFill/>
          <a:ln/>
        </p:spPr>
        <p:txBody>
          <a:bodyPr wrap="square" lIns="0" tIns="0" rIns="0" bIns="0" rtlCol="0" anchor="t"/>
          <a:lstStyle/>
          <a:p>
            <a:pPr indent="0" marL="0">
              <a:buNone/>
            </a:pPr>
            <a:r>
              <a:rPr lang="en-US" sz="1250" dirty="0">
                <a:solidFill>
                  <a:srgbClr val="1F2933"/>
                </a:solidFill>
              </a:rPr>
              <a:t>Exact binomial test on the seasons where two models disagree.</a:t>
            </a:r>
            <a:endParaRPr lang="en-US" sz="1250" dirty="0"/>
          </a:p>
        </p:txBody>
      </p:sp>
      <p:sp>
        <p:nvSpPr>
          <p:cNvPr id="23" name="Footnote"/>
          <p:cNvSpPr txBox="1"/>
          <p:nvPr/>
        </p:nvSpPr>
        <p:spPr>
          <a:xfrm>
            <a:off x="685800" y="4526280"/>
            <a:ext cx="7223760" cy="228600"/>
          </a:xfrm>
          <a:prstGeom prst="rect">
            <a:avLst/>
          </a:prstGeom>
          <a:noFill/>
          <a:ln/>
        </p:spPr>
        <p:txBody>
          <a:bodyPr wrap="square" lIns="0" tIns="0" rIns="0" bIns="0" rtlCol="0" anchor="ctr"/>
          <a:lstStyle/>
          <a:p>
            <a:pPr indent="0" marL="0">
              <a:buNone/>
            </a:pPr>
            <a:r>
              <a:rPr lang="en-US" sz="1100" dirty="0">
                <a:solidFill>
                  <a:srgbClr val="5F6B76"/>
                </a:solidFill>
              </a:rPr>
              <a:t>These are definitions only. Results follow on slides 8–10, all on the same 36 held-out seasons.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itle marker"/>
          <p:cNvSpPr/>
          <p:nvPr/>
        </p:nvSpPr>
        <p:spPr>
          <a:xfrm>
            <a:off x="457200" y="411480"/>
            <a:ext cx="73152" cy="548640"/>
          </a:xfrm>
          <a:prstGeom prst="rect">
            <a:avLst/>
          </a:prstGeom>
          <a:solidFill>
            <a:srgbClr val="C8501E"/>
          </a:solidFill>
          <a:ln w="12700">
            <a:solidFill>
              <a:srgbClr val="C8501E"/>
            </a:solidFill>
            <a:prstDash val="solid"/>
          </a:ln>
        </p:spPr>
      </p:sp>
      <p:sp>
        <p:nvSpPr>
          <p:cNvPr id="3" name="Title"/>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Results on 36 held-out seasons</a:t>
            </a:r>
            <a:endParaRPr lang="en-US" sz="2800" dirty="0"/>
          </a:p>
        </p:txBody>
      </p:sp>
      <p:sp>
        <p:nvSpPr>
          <p:cNvPr id="4" name="Page number"/>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8</a:t>
            </a:r>
            <a:endParaRPr lang="en-US" sz="1000" dirty="0"/>
          </a:p>
        </p:txBody>
      </p:sp>
      <p:graphicFrame>
        <p:nvGraphicFramePr>
          <p:cNvPr id="9" name="Results table"/>
          <p:cNvGraphicFramePr>
            <a:graphicFrameLocks noGrp="1"/>
          </p:cNvGraphicFramePr>
          <p:nvPr>
            <p:extLst>
              <p:ext uri="{D42A27DB-BD31-4B8C-83A1-F6EECF244321}">
                <p14:modId xmlns:p14="http://schemas.microsoft.com/office/powerpoint/2010/main" val="1579011935"/>
              </p:ext>
            </p:extLst>
          </p:nvPr>
        </p:nvGraphicFramePr>
        <p:xfrm>
          <a:off x="685800" y="1188720"/>
          <a:ext cx="7772400" cy="914400"/>
        </p:xfrm>
        <a:graphic>
          <a:graphicData uri="http://schemas.openxmlformats.org/drawingml/2006/table">
            <a:tbl>
              <a:tblPr/>
              <a:tblGrid>
                <a:gridCol w="2468880"/>
                <a:gridCol w="1371600"/>
                <a:gridCol w="1371600"/>
                <a:gridCol w="1005840"/>
                <a:gridCol w="777240"/>
                <a:gridCol w="777240"/>
              </a:tblGrid>
              <a:tr h="365760">
                <a:tc>
                  <a:txBody>
                    <a:bodyPr/>
                    <a:lstStyle/>
                    <a:p>
                      <a:pPr algn="l" indent="0" marL="0">
                        <a:buNone/>
                      </a:pPr>
                      <a:r>
                        <a:rPr lang="en-US" sz="1200" b="1" dirty="0">
                          <a:solidFill>
                            <a:srgbClr val="FFFFFF"/>
                          </a:solidFill>
                        </a:rPr>
                        <a:t>Model</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rPr>
                        <a:t>Winner accuracy</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rPr>
                        <a:t>Top-3 hit rate</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rPr>
                        <a:t>Spearman ρ</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rPr>
                        <a:t>MAE</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rPr>
                        <a:t>RMSE</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r>
              <a:tr h="347472">
                <a:tc>
                  <a:txBody>
                    <a:bodyPr/>
                    <a:lstStyle/>
                    <a:p>
                      <a:pPr algn="l" indent="0" marL="0">
                        <a:buNone/>
                      </a:pPr>
                      <a:r>
                        <a:rPr lang="en-US" sz="1200" b="1" dirty="0">
                          <a:solidFill>
                            <a:srgbClr val="1F2933"/>
                          </a:solidFill>
                        </a:rPr>
                        <a:t>Random Forest</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b="1" dirty="0">
                          <a:solidFill>
                            <a:srgbClr val="C8501E"/>
                          </a:solidFill>
                        </a:rPr>
                        <a:t>69.4%  (25/36)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1F2933"/>
                          </a:solidFill>
                        </a:rPr>
                        <a:t>88.9%  (32/36)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1F2933"/>
                          </a:solidFill>
                        </a:rPr>
                        <a:t>0.73</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1F2933"/>
                          </a:solidFill>
                        </a:rPr>
                        <a:t>0.120</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1F2933"/>
                          </a:solidFill>
                        </a:rPr>
                        <a:t>0.176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347472">
                <a:tc>
                  <a:txBody>
                    <a:bodyPr/>
                    <a:lstStyle/>
                    <a:p>
                      <a:pPr algn="l" indent="0" marL="0">
                        <a:buNone/>
                      </a:pPr>
                      <a:r>
                        <a:rPr lang="en-US" sz="1200" b="1" dirty="0">
                          <a:solidFill>
                            <a:srgbClr val="1F2933"/>
                          </a:solidFill>
                        </a:rPr>
                        <a:t>Gradient Boosting</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1F2933"/>
                          </a:solidFill>
                        </a:rPr>
                        <a:t>66.7%  (24/36)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1F2933"/>
                          </a:solidFill>
                        </a:rPr>
                        <a:t>88.9%  (32/36)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1F2933"/>
                          </a:solidFill>
                        </a:rPr>
                        <a:t>0.71</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b="1" dirty="0">
                          <a:solidFill>
                            <a:srgbClr val="C8501E"/>
                          </a:solidFill>
                        </a:rPr>
                        <a:t>0.109</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b="1" dirty="0">
                          <a:solidFill>
                            <a:srgbClr val="C8501E"/>
                          </a:solidFill>
                        </a:rPr>
                        <a:t>0.172</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347472">
                <a:tc>
                  <a:txBody>
                    <a:bodyPr/>
                    <a:lstStyle/>
                    <a:p>
                      <a:pPr algn="l" indent="0" marL="0">
                        <a:buNone/>
                      </a:pPr>
                      <a:r>
                        <a:rPr lang="en-US" sz="1200" b="1" dirty="0">
                          <a:solidFill>
                            <a:srgbClr val="1F2933"/>
                          </a:solidFill>
                        </a:rPr>
                        <a:t>Ridge Regression</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1F2933"/>
                          </a:solidFill>
                        </a:rPr>
                        <a:t>63.9%  (23/36)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b="1" dirty="0">
                          <a:solidFill>
                            <a:srgbClr val="C8501E"/>
                          </a:solidFill>
                        </a:rPr>
                        <a:t>94.4%  (34/36)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b="1" dirty="0">
                          <a:solidFill>
                            <a:srgbClr val="C8501E"/>
                          </a:solidFill>
                        </a:rPr>
                        <a:t>0.78</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1F2933"/>
                          </a:solidFill>
                        </a:rPr>
                        <a:t>0.132</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1F2933"/>
                          </a:solidFill>
                        </a:rPr>
                        <a:t>0.182</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347472">
                <a:tc>
                  <a:txBody>
                    <a:bodyPr/>
                    <a:lstStyle/>
                    <a:p>
                      <a:pPr algn="l" indent="0" marL="0">
                        <a:buNone/>
                      </a:pPr>
                      <a:r>
                        <a:rPr lang="en-US" sz="1200" dirty="0">
                          <a:solidFill>
                            <a:srgbClr val="5F6B76"/>
                          </a:solidFill>
                        </a:rPr>
                        <a:t>Baseline: Win Shares-only Ridge</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5F6B76"/>
                          </a:solidFill>
                        </a:rPr>
                        <a:t>58.3%  (21/36)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5F6B76"/>
                          </a:solidFill>
                        </a:rPr>
                        <a:t>77.8%  (28/36)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5F6B76"/>
                          </a:solidFill>
                        </a:rPr>
                        <a:t>0.64</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5F6B76"/>
                          </a:solidFill>
                        </a:rPr>
                        <a:t>0.156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5F6B76"/>
                          </a:solidFill>
                        </a:rPr>
                        <a:t>0.218</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347472">
                <a:tc>
                  <a:txBody>
                    <a:bodyPr/>
                    <a:lstStyle/>
                    <a:p>
                      <a:pPr algn="l" indent="0" marL="0">
                        <a:buNone/>
                      </a:pPr>
                      <a:r>
                        <a:rPr lang="en-US" sz="1200" dirty="0">
                          <a:solidFill>
                            <a:srgbClr val="5F6B76"/>
                          </a:solidFill>
                        </a:rPr>
                        <a:t>Baseline: prior-season share</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5F6B76"/>
                          </a:solidFill>
                        </a:rPr>
                        <a:t>27.8%  (10/36)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5F6B76"/>
                          </a:solidFill>
                        </a:rPr>
                        <a:t>66.7%  (24/36)</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5F6B76"/>
                          </a:solidFill>
                        </a:rPr>
                        <a:t>0.39</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5F6B76"/>
                          </a:solidFill>
                        </a:rPr>
                        <a:t>0.168</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200" dirty="0">
                          <a:solidFill>
                            <a:srgbClr val="5F6B76"/>
                          </a:solidFill>
                        </a:rPr>
                        <a:t>0.285</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bl>
          </a:graphicData>
        </a:graphic>
      </p:graphicFrame>
      <p:sp>
        <p:nvSpPr>
          <p:cNvPr id="6" name="Table caption"/>
          <p:cNvSpPr txBox="1"/>
          <p:nvPr/>
        </p:nvSpPr>
        <p:spPr>
          <a:xfrm>
            <a:off x="685800" y="3456432"/>
            <a:ext cx="7772400" cy="365760"/>
          </a:xfrm>
          <a:prstGeom prst="rect">
            <a:avLst/>
          </a:prstGeom>
          <a:noFill/>
          <a:ln/>
        </p:spPr>
        <p:txBody>
          <a:bodyPr wrap="square" lIns="0" tIns="0" rIns="0" bIns="0" rtlCol="0" anchor="t"/>
          <a:lstStyle/>
          <a:p>
            <a:pPr indent="0" marL="0">
              <a:buNone/>
            </a:pPr>
            <a:r>
              <a:rPr lang="en-US" sz="1100" dirty="0">
                <a:solidFill>
                  <a:srgbClr val="5F6B76"/>
                </a:solidFill>
              </a:rPr>
              <a:t>Best value in each column in orange. Spearman is the mean of per-season rank correlations. MAE and RMSE are on vote share (0–1); lower is better.</a:t>
            </a:r>
            <a:endParaRPr lang="en-US" sz="1100" dirty="0"/>
          </a:p>
        </p:txBody>
      </p:sp>
      <p:sp>
        <p:nvSpPr>
          <p:cNvPr id="7" name="Takeaway card"/>
          <p:cNvSpPr/>
          <p:nvPr/>
        </p:nvSpPr>
        <p:spPr>
          <a:xfrm>
            <a:off x="685800" y="3931920"/>
            <a:ext cx="7772400" cy="685800"/>
          </a:xfrm>
          <a:prstGeom prst="rect">
            <a:avLst/>
          </a:prstGeom>
          <a:solidFill>
            <a:srgbClr val="F3F1EE"/>
          </a:solidFill>
          <a:ln w="12700">
            <a:solidFill>
              <a:srgbClr val="F3F1EE"/>
            </a:solidFill>
            <a:prstDash val="solid"/>
          </a:ln>
        </p:spPr>
      </p:sp>
      <p:sp>
        <p:nvSpPr>
          <p:cNvPr id="8" name="Takeaway text"/>
          <p:cNvSpPr txBox="1"/>
          <p:nvPr/>
        </p:nvSpPr>
        <p:spPr>
          <a:xfrm>
            <a:off x="868680" y="3959352"/>
            <a:ext cx="7406640" cy="630936"/>
          </a:xfrm>
          <a:prstGeom prst="rect">
            <a:avLst/>
          </a:prstGeom>
          <a:noFill/>
          <a:ln/>
        </p:spPr>
        <p:txBody>
          <a:bodyPr wrap="square" lIns="0" tIns="0" rIns="0" bIns="0" rtlCol="0" anchor="ctr"/>
          <a:lstStyle/>
          <a:p>
            <a:pPr indent="0" marL="0">
              <a:buNone/>
            </a:pPr>
            <a:r>
              <a:rPr lang="en-US" sz="1300" b="1" dirty="0">
                <a:solidFill>
                  <a:srgbClr val="C8501E"/>
                </a:solidFill>
              </a:rPr>
              <a:t>No single model wins every metric. </a:t>
            </a:r>
            <a:pPr indent="0" marL="0">
              <a:buNone/>
            </a:pPr>
            <a:r>
              <a:rPr lang="en-US" sz="1300" dirty="0">
                <a:solidFill>
                  <a:srgbClr val="1F2933"/>
                </a:solidFill>
              </a:rPr>
              <a:t>Random Forest picks the MVP most often, Ridge ranks the field best (top-3 and Spearman), and Gradient Boosting has the smallest vote-share error.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le marker"/>
          <p:cNvSpPr/>
          <p:nvPr/>
        </p:nvSpPr>
        <p:spPr>
          <a:xfrm>
            <a:off x="457200" y="411480"/>
            <a:ext cx="73152" cy="548640"/>
          </a:xfrm>
          <a:prstGeom prst="rect">
            <a:avLst/>
          </a:prstGeom>
          <a:solidFill>
            <a:srgbClr val="C8501E"/>
          </a:solidFill>
          <a:ln w="12700">
            <a:solidFill>
              <a:srgbClr val="C8501E"/>
            </a:solidFill>
            <a:prstDash val="solid"/>
          </a:ln>
        </p:spPr>
      </p:sp>
      <p:sp>
        <p:nvSpPr>
          <p:cNvPr id="3" name="Title"/>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Season by season: where models hit and miss</a:t>
            </a:r>
            <a:endParaRPr lang="en-US" sz="2800" dirty="0"/>
          </a:p>
        </p:txBody>
      </p:sp>
      <p:sp>
        <p:nvSpPr>
          <p:cNvPr id="4" name="Page number"/>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9</a:t>
            </a:r>
            <a:endParaRPr lang="en-US" sz="1000" dirty="0"/>
          </a:p>
        </p:txBody>
      </p:sp>
      <p:sp>
        <p:nvSpPr>
          <p:cNvPr id="5" name="Heatmap legend"/>
          <p:cNvSpPr txBox="1"/>
          <p:nvPr/>
        </p:nvSpPr>
        <p:spPr>
          <a:xfrm>
            <a:off x="685800" y="1097280"/>
            <a:ext cx="7772400" cy="256032"/>
          </a:xfrm>
          <a:prstGeom prst="rect">
            <a:avLst/>
          </a:prstGeom>
          <a:noFill/>
          <a:ln/>
        </p:spPr>
        <p:txBody>
          <a:bodyPr wrap="square" lIns="0" tIns="0" rIns="0" bIns="0" rtlCol="0" anchor="ctr"/>
          <a:lstStyle/>
          <a:p>
            <a:pPr indent="0" marL="0">
              <a:buNone/>
            </a:pPr>
            <a:r>
              <a:rPr lang="en-US" sz="1100" dirty="0">
                <a:solidFill>
                  <a:srgbClr val="5F6B76"/>
                </a:solidFill>
              </a:rPr>
              <a:t>Each column is one held-out season, 1990–2025.    </a:t>
            </a:r>
            <a:pPr indent="0" marL="0">
              <a:buNone/>
            </a:pPr>
            <a:r>
              <a:rPr lang="en-US" sz="1100" b="1" dirty="0">
                <a:solidFill>
                  <a:srgbClr val="C8501E"/>
                </a:solidFill>
              </a:rPr>
              <a:t>■ </a:t>
            </a:r>
            <a:pPr indent="0" marL="0">
              <a:buNone/>
            </a:pPr>
            <a:r>
              <a:rPr lang="en-US" sz="1100" dirty="0">
                <a:solidFill>
                  <a:srgbClr val="5F6B76"/>
                </a:solidFill>
              </a:rPr>
              <a:t>Correct pick    </a:t>
            </a:r>
            <a:pPr indent="0" marL="0">
              <a:buNone/>
            </a:pPr>
            <a:r>
              <a:rPr lang="en-US" sz="1100" b="1" dirty="0">
                <a:solidFill>
                  <a:srgbClr val="D9D5CF"/>
                </a:solidFill>
              </a:rPr>
              <a:t>■ </a:t>
            </a:r>
            <a:pPr indent="0" marL="0">
              <a:buNone/>
            </a:pPr>
            <a:r>
              <a:rPr lang="en-US" sz="1100" dirty="0">
                <a:solidFill>
                  <a:srgbClr val="5F6B76"/>
                </a:solidFill>
              </a:rPr>
              <a:t>Missed</a:t>
            </a:r>
            <a:endParaRPr lang="en-US" sz="1100" dirty="0"/>
          </a:p>
        </p:txBody>
      </p:sp>
      <p:sp>
        <p:nvSpPr>
          <p:cNvPr id="6" name="Row label Random Forest"/>
          <p:cNvSpPr txBox="1"/>
          <p:nvPr/>
        </p:nvSpPr>
        <p:spPr>
          <a:xfrm>
            <a:off x="685800" y="1463040"/>
            <a:ext cx="1554480" cy="292608"/>
          </a:xfrm>
          <a:prstGeom prst="rect">
            <a:avLst/>
          </a:prstGeom>
          <a:noFill/>
          <a:ln/>
        </p:spPr>
        <p:txBody>
          <a:bodyPr wrap="square" lIns="0" tIns="0" rIns="0" bIns="0" rtlCol="0" anchor="ctr"/>
          <a:lstStyle/>
          <a:p>
            <a:pPr indent="0" marL="0">
              <a:buNone/>
            </a:pPr>
            <a:r>
              <a:rPr lang="en-US" sz="1100" b="1" dirty="0">
                <a:solidFill>
                  <a:srgbClr val="1F2933"/>
                </a:solidFill>
              </a:rPr>
              <a:t>Random Forest</a:t>
            </a:r>
            <a:endParaRPr lang="en-US" sz="1100" dirty="0"/>
          </a:p>
        </p:txBody>
      </p:sp>
      <p:sp>
        <p:nvSpPr>
          <p:cNvPr id="7" name="Random Forest 1990"/>
          <p:cNvSpPr/>
          <p:nvPr/>
        </p:nvSpPr>
        <p:spPr>
          <a:xfrm>
            <a:off x="2286000" y="1463040"/>
            <a:ext cx="137160" cy="292608"/>
          </a:xfrm>
          <a:prstGeom prst="rect">
            <a:avLst/>
          </a:prstGeom>
          <a:solidFill>
            <a:srgbClr val="C8501E"/>
          </a:solidFill>
          <a:ln w="3175">
            <a:solidFill>
              <a:srgbClr val="C8501E"/>
            </a:solidFill>
            <a:prstDash val="solid"/>
          </a:ln>
        </p:spPr>
      </p:sp>
      <p:sp>
        <p:nvSpPr>
          <p:cNvPr id="8" name="Random Forest 1991"/>
          <p:cNvSpPr/>
          <p:nvPr/>
        </p:nvSpPr>
        <p:spPr>
          <a:xfrm>
            <a:off x="2441448" y="1463040"/>
            <a:ext cx="137160" cy="292608"/>
          </a:xfrm>
          <a:prstGeom prst="rect">
            <a:avLst/>
          </a:prstGeom>
          <a:solidFill>
            <a:srgbClr val="C8501E"/>
          </a:solidFill>
          <a:ln w="3175">
            <a:solidFill>
              <a:srgbClr val="C8501E"/>
            </a:solidFill>
            <a:prstDash val="solid"/>
          </a:ln>
        </p:spPr>
      </p:sp>
      <p:sp>
        <p:nvSpPr>
          <p:cNvPr id="9" name="Random Forest 1992"/>
          <p:cNvSpPr/>
          <p:nvPr/>
        </p:nvSpPr>
        <p:spPr>
          <a:xfrm>
            <a:off x="2596896" y="1463040"/>
            <a:ext cx="137160" cy="292608"/>
          </a:xfrm>
          <a:prstGeom prst="rect">
            <a:avLst/>
          </a:prstGeom>
          <a:solidFill>
            <a:srgbClr val="C8501E"/>
          </a:solidFill>
          <a:ln w="3175">
            <a:solidFill>
              <a:srgbClr val="C8501E"/>
            </a:solidFill>
            <a:prstDash val="solid"/>
          </a:ln>
        </p:spPr>
      </p:sp>
      <p:sp>
        <p:nvSpPr>
          <p:cNvPr id="10" name="Random Forest 1993"/>
          <p:cNvSpPr/>
          <p:nvPr/>
        </p:nvSpPr>
        <p:spPr>
          <a:xfrm>
            <a:off x="2752344" y="1463040"/>
            <a:ext cx="137160" cy="292608"/>
          </a:xfrm>
          <a:prstGeom prst="rect">
            <a:avLst/>
          </a:prstGeom>
          <a:solidFill>
            <a:srgbClr val="D9D5CF"/>
          </a:solidFill>
          <a:ln w="3175">
            <a:solidFill>
              <a:srgbClr val="D9D5CF"/>
            </a:solidFill>
            <a:prstDash val="solid"/>
          </a:ln>
        </p:spPr>
      </p:sp>
      <p:sp>
        <p:nvSpPr>
          <p:cNvPr id="11" name="Random Forest 1994"/>
          <p:cNvSpPr/>
          <p:nvPr/>
        </p:nvSpPr>
        <p:spPr>
          <a:xfrm>
            <a:off x="2907792" y="1463040"/>
            <a:ext cx="137160" cy="292608"/>
          </a:xfrm>
          <a:prstGeom prst="rect">
            <a:avLst/>
          </a:prstGeom>
          <a:solidFill>
            <a:srgbClr val="D9D5CF"/>
          </a:solidFill>
          <a:ln w="3175">
            <a:solidFill>
              <a:srgbClr val="D9D5CF"/>
            </a:solidFill>
            <a:prstDash val="solid"/>
          </a:ln>
        </p:spPr>
      </p:sp>
      <p:sp>
        <p:nvSpPr>
          <p:cNvPr id="12" name="Random Forest 1995"/>
          <p:cNvSpPr/>
          <p:nvPr/>
        </p:nvSpPr>
        <p:spPr>
          <a:xfrm>
            <a:off x="3063240" y="1463040"/>
            <a:ext cx="137160" cy="292608"/>
          </a:xfrm>
          <a:prstGeom prst="rect">
            <a:avLst/>
          </a:prstGeom>
          <a:solidFill>
            <a:srgbClr val="C8501E"/>
          </a:solidFill>
          <a:ln w="3175">
            <a:solidFill>
              <a:srgbClr val="C8501E"/>
            </a:solidFill>
            <a:prstDash val="solid"/>
          </a:ln>
        </p:spPr>
      </p:sp>
      <p:sp>
        <p:nvSpPr>
          <p:cNvPr id="13" name="Random Forest 1996"/>
          <p:cNvSpPr/>
          <p:nvPr/>
        </p:nvSpPr>
        <p:spPr>
          <a:xfrm>
            <a:off x="3218688" y="1463040"/>
            <a:ext cx="137160" cy="292608"/>
          </a:xfrm>
          <a:prstGeom prst="rect">
            <a:avLst/>
          </a:prstGeom>
          <a:solidFill>
            <a:srgbClr val="C8501E"/>
          </a:solidFill>
          <a:ln w="3175">
            <a:solidFill>
              <a:srgbClr val="C8501E"/>
            </a:solidFill>
            <a:prstDash val="solid"/>
          </a:ln>
        </p:spPr>
      </p:sp>
      <p:sp>
        <p:nvSpPr>
          <p:cNvPr id="14" name="Random Forest 1997"/>
          <p:cNvSpPr/>
          <p:nvPr/>
        </p:nvSpPr>
        <p:spPr>
          <a:xfrm>
            <a:off x="3374136" y="1463040"/>
            <a:ext cx="137160" cy="292608"/>
          </a:xfrm>
          <a:prstGeom prst="rect">
            <a:avLst/>
          </a:prstGeom>
          <a:solidFill>
            <a:srgbClr val="D9D5CF"/>
          </a:solidFill>
          <a:ln w="3175">
            <a:solidFill>
              <a:srgbClr val="D9D5CF"/>
            </a:solidFill>
            <a:prstDash val="solid"/>
          </a:ln>
        </p:spPr>
      </p:sp>
      <p:sp>
        <p:nvSpPr>
          <p:cNvPr id="15" name="Random Forest 1998"/>
          <p:cNvSpPr/>
          <p:nvPr/>
        </p:nvSpPr>
        <p:spPr>
          <a:xfrm>
            <a:off x="3529584" y="1463040"/>
            <a:ext cx="137160" cy="292608"/>
          </a:xfrm>
          <a:prstGeom prst="rect">
            <a:avLst/>
          </a:prstGeom>
          <a:solidFill>
            <a:srgbClr val="D9D5CF"/>
          </a:solidFill>
          <a:ln w="3175">
            <a:solidFill>
              <a:srgbClr val="D9D5CF"/>
            </a:solidFill>
            <a:prstDash val="solid"/>
          </a:ln>
        </p:spPr>
      </p:sp>
      <p:sp>
        <p:nvSpPr>
          <p:cNvPr id="16" name="Random Forest 1999"/>
          <p:cNvSpPr/>
          <p:nvPr/>
        </p:nvSpPr>
        <p:spPr>
          <a:xfrm>
            <a:off x="3685032" y="1463040"/>
            <a:ext cx="137160" cy="292608"/>
          </a:xfrm>
          <a:prstGeom prst="rect">
            <a:avLst/>
          </a:prstGeom>
          <a:solidFill>
            <a:srgbClr val="C8501E"/>
          </a:solidFill>
          <a:ln w="3175">
            <a:solidFill>
              <a:srgbClr val="C8501E"/>
            </a:solidFill>
            <a:prstDash val="solid"/>
          </a:ln>
        </p:spPr>
      </p:sp>
      <p:sp>
        <p:nvSpPr>
          <p:cNvPr id="17" name="Random Forest 2000"/>
          <p:cNvSpPr/>
          <p:nvPr/>
        </p:nvSpPr>
        <p:spPr>
          <a:xfrm>
            <a:off x="3840480" y="1463040"/>
            <a:ext cx="137160" cy="292608"/>
          </a:xfrm>
          <a:prstGeom prst="rect">
            <a:avLst/>
          </a:prstGeom>
          <a:solidFill>
            <a:srgbClr val="C8501E"/>
          </a:solidFill>
          <a:ln w="3175">
            <a:solidFill>
              <a:srgbClr val="C8501E"/>
            </a:solidFill>
            <a:prstDash val="solid"/>
          </a:ln>
        </p:spPr>
      </p:sp>
      <p:sp>
        <p:nvSpPr>
          <p:cNvPr id="18" name="Random Forest 2001"/>
          <p:cNvSpPr/>
          <p:nvPr/>
        </p:nvSpPr>
        <p:spPr>
          <a:xfrm>
            <a:off x="3995928" y="1463040"/>
            <a:ext cx="137160" cy="292608"/>
          </a:xfrm>
          <a:prstGeom prst="rect">
            <a:avLst/>
          </a:prstGeom>
          <a:solidFill>
            <a:srgbClr val="D9D5CF"/>
          </a:solidFill>
          <a:ln w="3175">
            <a:solidFill>
              <a:srgbClr val="D9D5CF"/>
            </a:solidFill>
            <a:prstDash val="solid"/>
          </a:ln>
        </p:spPr>
      </p:sp>
      <p:sp>
        <p:nvSpPr>
          <p:cNvPr id="19" name="Random Forest 2002"/>
          <p:cNvSpPr/>
          <p:nvPr/>
        </p:nvSpPr>
        <p:spPr>
          <a:xfrm>
            <a:off x="4151376" y="1463040"/>
            <a:ext cx="137160" cy="292608"/>
          </a:xfrm>
          <a:prstGeom prst="rect">
            <a:avLst/>
          </a:prstGeom>
          <a:solidFill>
            <a:srgbClr val="C8501E"/>
          </a:solidFill>
          <a:ln w="3175">
            <a:solidFill>
              <a:srgbClr val="C8501E"/>
            </a:solidFill>
            <a:prstDash val="solid"/>
          </a:ln>
        </p:spPr>
      </p:sp>
      <p:sp>
        <p:nvSpPr>
          <p:cNvPr id="20" name="Random Forest 2003"/>
          <p:cNvSpPr/>
          <p:nvPr/>
        </p:nvSpPr>
        <p:spPr>
          <a:xfrm>
            <a:off x="4306824" y="1463040"/>
            <a:ext cx="137160" cy="292608"/>
          </a:xfrm>
          <a:prstGeom prst="rect">
            <a:avLst/>
          </a:prstGeom>
          <a:solidFill>
            <a:srgbClr val="C8501E"/>
          </a:solidFill>
          <a:ln w="3175">
            <a:solidFill>
              <a:srgbClr val="C8501E"/>
            </a:solidFill>
            <a:prstDash val="solid"/>
          </a:ln>
        </p:spPr>
      </p:sp>
      <p:sp>
        <p:nvSpPr>
          <p:cNvPr id="21" name="Random Forest 2004"/>
          <p:cNvSpPr/>
          <p:nvPr/>
        </p:nvSpPr>
        <p:spPr>
          <a:xfrm>
            <a:off x="4462272" y="1463040"/>
            <a:ext cx="137160" cy="292608"/>
          </a:xfrm>
          <a:prstGeom prst="rect">
            <a:avLst/>
          </a:prstGeom>
          <a:solidFill>
            <a:srgbClr val="C8501E"/>
          </a:solidFill>
          <a:ln w="3175">
            <a:solidFill>
              <a:srgbClr val="C8501E"/>
            </a:solidFill>
            <a:prstDash val="solid"/>
          </a:ln>
        </p:spPr>
      </p:sp>
      <p:sp>
        <p:nvSpPr>
          <p:cNvPr id="22" name="Random Forest 2005"/>
          <p:cNvSpPr/>
          <p:nvPr/>
        </p:nvSpPr>
        <p:spPr>
          <a:xfrm>
            <a:off x="4617720" y="1463040"/>
            <a:ext cx="137160" cy="292608"/>
          </a:xfrm>
          <a:prstGeom prst="rect">
            <a:avLst/>
          </a:prstGeom>
          <a:solidFill>
            <a:srgbClr val="D9D5CF"/>
          </a:solidFill>
          <a:ln w="3175">
            <a:solidFill>
              <a:srgbClr val="D9D5CF"/>
            </a:solidFill>
            <a:prstDash val="solid"/>
          </a:ln>
        </p:spPr>
      </p:sp>
      <p:sp>
        <p:nvSpPr>
          <p:cNvPr id="23" name="Random Forest 2006"/>
          <p:cNvSpPr/>
          <p:nvPr/>
        </p:nvSpPr>
        <p:spPr>
          <a:xfrm>
            <a:off x="4773168" y="1463040"/>
            <a:ext cx="137160" cy="292608"/>
          </a:xfrm>
          <a:prstGeom prst="rect">
            <a:avLst/>
          </a:prstGeom>
          <a:solidFill>
            <a:srgbClr val="D9D5CF"/>
          </a:solidFill>
          <a:ln w="3175">
            <a:solidFill>
              <a:srgbClr val="D9D5CF"/>
            </a:solidFill>
            <a:prstDash val="solid"/>
          </a:ln>
        </p:spPr>
      </p:sp>
      <p:sp>
        <p:nvSpPr>
          <p:cNvPr id="24" name="Random Forest 2007"/>
          <p:cNvSpPr/>
          <p:nvPr/>
        </p:nvSpPr>
        <p:spPr>
          <a:xfrm>
            <a:off x="4928616" y="1463040"/>
            <a:ext cx="137160" cy="292608"/>
          </a:xfrm>
          <a:prstGeom prst="rect">
            <a:avLst/>
          </a:prstGeom>
          <a:solidFill>
            <a:srgbClr val="C8501E"/>
          </a:solidFill>
          <a:ln w="3175">
            <a:solidFill>
              <a:srgbClr val="C8501E"/>
            </a:solidFill>
            <a:prstDash val="solid"/>
          </a:ln>
        </p:spPr>
      </p:sp>
      <p:sp>
        <p:nvSpPr>
          <p:cNvPr id="25" name="Random Forest 2008"/>
          <p:cNvSpPr/>
          <p:nvPr/>
        </p:nvSpPr>
        <p:spPr>
          <a:xfrm>
            <a:off x="5084064" y="1463040"/>
            <a:ext cx="137160" cy="292608"/>
          </a:xfrm>
          <a:prstGeom prst="rect">
            <a:avLst/>
          </a:prstGeom>
          <a:solidFill>
            <a:srgbClr val="D9D5CF"/>
          </a:solidFill>
          <a:ln w="3175">
            <a:solidFill>
              <a:srgbClr val="D9D5CF"/>
            </a:solidFill>
            <a:prstDash val="solid"/>
          </a:ln>
        </p:spPr>
      </p:sp>
      <p:sp>
        <p:nvSpPr>
          <p:cNvPr id="26" name="Random Forest 2009"/>
          <p:cNvSpPr/>
          <p:nvPr/>
        </p:nvSpPr>
        <p:spPr>
          <a:xfrm>
            <a:off x="5239512" y="1463040"/>
            <a:ext cx="137160" cy="292608"/>
          </a:xfrm>
          <a:prstGeom prst="rect">
            <a:avLst/>
          </a:prstGeom>
          <a:solidFill>
            <a:srgbClr val="C8501E"/>
          </a:solidFill>
          <a:ln w="3175">
            <a:solidFill>
              <a:srgbClr val="C8501E"/>
            </a:solidFill>
            <a:prstDash val="solid"/>
          </a:ln>
        </p:spPr>
      </p:sp>
      <p:sp>
        <p:nvSpPr>
          <p:cNvPr id="27" name="Random Forest 2010"/>
          <p:cNvSpPr/>
          <p:nvPr/>
        </p:nvSpPr>
        <p:spPr>
          <a:xfrm>
            <a:off x="5394960" y="1463040"/>
            <a:ext cx="137160" cy="292608"/>
          </a:xfrm>
          <a:prstGeom prst="rect">
            <a:avLst/>
          </a:prstGeom>
          <a:solidFill>
            <a:srgbClr val="C8501E"/>
          </a:solidFill>
          <a:ln w="3175">
            <a:solidFill>
              <a:srgbClr val="C8501E"/>
            </a:solidFill>
            <a:prstDash val="solid"/>
          </a:ln>
        </p:spPr>
      </p:sp>
      <p:sp>
        <p:nvSpPr>
          <p:cNvPr id="28" name="Random Forest 2011"/>
          <p:cNvSpPr/>
          <p:nvPr/>
        </p:nvSpPr>
        <p:spPr>
          <a:xfrm>
            <a:off x="5550408" y="1463040"/>
            <a:ext cx="137160" cy="292608"/>
          </a:xfrm>
          <a:prstGeom prst="rect">
            <a:avLst/>
          </a:prstGeom>
          <a:solidFill>
            <a:srgbClr val="D9D5CF"/>
          </a:solidFill>
          <a:ln w="3175">
            <a:solidFill>
              <a:srgbClr val="D9D5CF"/>
            </a:solidFill>
            <a:prstDash val="solid"/>
          </a:ln>
        </p:spPr>
      </p:sp>
      <p:sp>
        <p:nvSpPr>
          <p:cNvPr id="29" name="Random Forest 2012"/>
          <p:cNvSpPr/>
          <p:nvPr/>
        </p:nvSpPr>
        <p:spPr>
          <a:xfrm>
            <a:off x="5705856" y="1463040"/>
            <a:ext cx="137160" cy="292608"/>
          </a:xfrm>
          <a:prstGeom prst="rect">
            <a:avLst/>
          </a:prstGeom>
          <a:solidFill>
            <a:srgbClr val="C8501E"/>
          </a:solidFill>
          <a:ln w="3175">
            <a:solidFill>
              <a:srgbClr val="C8501E"/>
            </a:solidFill>
            <a:prstDash val="solid"/>
          </a:ln>
        </p:spPr>
      </p:sp>
      <p:sp>
        <p:nvSpPr>
          <p:cNvPr id="30" name="Random Forest 2013"/>
          <p:cNvSpPr/>
          <p:nvPr/>
        </p:nvSpPr>
        <p:spPr>
          <a:xfrm>
            <a:off x="5861304" y="1463040"/>
            <a:ext cx="137160" cy="292608"/>
          </a:xfrm>
          <a:prstGeom prst="rect">
            <a:avLst/>
          </a:prstGeom>
          <a:solidFill>
            <a:srgbClr val="C8501E"/>
          </a:solidFill>
          <a:ln w="3175">
            <a:solidFill>
              <a:srgbClr val="C8501E"/>
            </a:solidFill>
            <a:prstDash val="solid"/>
          </a:ln>
        </p:spPr>
      </p:sp>
      <p:sp>
        <p:nvSpPr>
          <p:cNvPr id="31" name="Random Forest 2014"/>
          <p:cNvSpPr/>
          <p:nvPr/>
        </p:nvSpPr>
        <p:spPr>
          <a:xfrm>
            <a:off x="6016752" y="1463040"/>
            <a:ext cx="137160" cy="292608"/>
          </a:xfrm>
          <a:prstGeom prst="rect">
            <a:avLst/>
          </a:prstGeom>
          <a:solidFill>
            <a:srgbClr val="C8501E"/>
          </a:solidFill>
          <a:ln w="3175">
            <a:solidFill>
              <a:srgbClr val="C8501E"/>
            </a:solidFill>
            <a:prstDash val="solid"/>
          </a:ln>
        </p:spPr>
      </p:sp>
      <p:sp>
        <p:nvSpPr>
          <p:cNvPr id="32" name="Random Forest 2015"/>
          <p:cNvSpPr/>
          <p:nvPr/>
        </p:nvSpPr>
        <p:spPr>
          <a:xfrm>
            <a:off x="6172200" y="1463040"/>
            <a:ext cx="137160" cy="292608"/>
          </a:xfrm>
          <a:prstGeom prst="rect">
            <a:avLst/>
          </a:prstGeom>
          <a:solidFill>
            <a:srgbClr val="C8501E"/>
          </a:solidFill>
          <a:ln w="3175">
            <a:solidFill>
              <a:srgbClr val="C8501E"/>
            </a:solidFill>
            <a:prstDash val="solid"/>
          </a:ln>
        </p:spPr>
      </p:sp>
      <p:sp>
        <p:nvSpPr>
          <p:cNvPr id="33" name="Random Forest 2016"/>
          <p:cNvSpPr/>
          <p:nvPr/>
        </p:nvSpPr>
        <p:spPr>
          <a:xfrm>
            <a:off x="6327648" y="1463040"/>
            <a:ext cx="137160" cy="292608"/>
          </a:xfrm>
          <a:prstGeom prst="rect">
            <a:avLst/>
          </a:prstGeom>
          <a:solidFill>
            <a:srgbClr val="C8501E"/>
          </a:solidFill>
          <a:ln w="3175">
            <a:solidFill>
              <a:srgbClr val="C8501E"/>
            </a:solidFill>
            <a:prstDash val="solid"/>
          </a:ln>
        </p:spPr>
      </p:sp>
      <p:sp>
        <p:nvSpPr>
          <p:cNvPr id="34" name="Random Forest 2017"/>
          <p:cNvSpPr/>
          <p:nvPr/>
        </p:nvSpPr>
        <p:spPr>
          <a:xfrm>
            <a:off x="6483096" y="1463040"/>
            <a:ext cx="137160" cy="292608"/>
          </a:xfrm>
          <a:prstGeom prst="rect">
            <a:avLst/>
          </a:prstGeom>
          <a:solidFill>
            <a:srgbClr val="D9D5CF"/>
          </a:solidFill>
          <a:ln w="3175">
            <a:solidFill>
              <a:srgbClr val="D9D5CF"/>
            </a:solidFill>
            <a:prstDash val="solid"/>
          </a:ln>
        </p:spPr>
      </p:sp>
      <p:sp>
        <p:nvSpPr>
          <p:cNvPr id="35" name="Random Forest 2018"/>
          <p:cNvSpPr/>
          <p:nvPr/>
        </p:nvSpPr>
        <p:spPr>
          <a:xfrm>
            <a:off x="6638544" y="1463040"/>
            <a:ext cx="137160" cy="292608"/>
          </a:xfrm>
          <a:prstGeom prst="rect">
            <a:avLst/>
          </a:prstGeom>
          <a:solidFill>
            <a:srgbClr val="C8501E"/>
          </a:solidFill>
          <a:ln w="3175">
            <a:solidFill>
              <a:srgbClr val="C8501E"/>
            </a:solidFill>
            <a:prstDash val="solid"/>
          </a:ln>
        </p:spPr>
      </p:sp>
      <p:sp>
        <p:nvSpPr>
          <p:cNvPr id="36" name="Random Forest 2019"/>
          <p:cNvSpPr/>
          <p:nvPr/>
        </p:nvSpPr>
        <p:spPr>
          <a:xfrm>
            <a:off x="6793992" y="1463040"/>
            <a:ext cx="137160" cy="292608"/>
          </a:xfrm>
          <a:prstGeom prst="rect">
            <a:avLst/>
          </a:prstGeom>
          <a:solidFill>
            <a:srgbClr val="C8501E"/>
          </a:solidFill>
          <a:ln w="3175">
            <a:solidFill>
              <a:srgbClr val="C8501E"/>
            </a:solidFill>
            <a:prstDash val="solid"/>
          </a:ln>
        </p:spPr>
      </p:sp>
      <p:sp>
        <p:nvSpPr>
          <p:cNvPr id="37" name="Random Forest 2020"/>
          <p:cNvSpPr/>
          <p:nvPr/>
        </p:nvSpPr>
        <p:spPr>
          <a:xfrm>
            <a:off x="6949440" y="1463040"/>
            <a:ext cx="137160" cy="292608"/>
          </a:xfrm>
          <a:prstGeom prst="rect">
            <a:avLst/>
          </a:prstGeom>
          <a:solidFill>
            <a:srgbClr val="C8501E"/>
          </a:solidFill>
          <a:ln w="3175">
            <a:solidFill>
              <a:srgbClr val="C8501E"/>
            </a:solidFill>
            <a:prstDash val="solid"/>
          </a:ln>
        </p:spPr>
      </p:sp>
      <p:sp>
        <p:nvSpPr>
          <p:cNvPr id="38" name="Random Forest 2021"/>
          <p:cNvSpPr/>
          <p:nvPr/>
        </p:nvSpPr>
        <p:spPr>
          <a:xfrm>
            <a:off x="7104888" y="1463040"/>
            <a:ext cx="137160" cy="292608"/>
          </a:xfrm>
          <a:prstGeom prst="rect">
            <a:avLst/>
          </a:prstGeom>
          <a:solidFill>
            <a:srgbClr val="C8501E"/>
          </a:solidFill>
          <a:ln w="3175">
            <a:solidFill>
              <a:srgbClr val="C8501E"/>
            </a:solidFill>
            <a:prstDash val="solid"/>
          </a:ln>
        </p:spPr>
      </p:sp>
      <p:sp>
        <p:nvSpPr>
          <p:cNvPr id="39" name="Random Forest 2022"/>
          <p:cNvSpPr/>
          <p:nvPr/>
        </p:nvSpPr>
        <p:spPr>
          <a:xfrm>
            <a:off x="7260336" y="1463040"/>
            <a:ext cx="137160" cy="292608"/>
          </a:xfrm>
          <a:prstGeom prst="rect">
            <a:avLst/>
          </a:prstGeom>
          <a:solidFill>
            <a:srgbClr val="C8501E"/>
          </a:solidFill>
          <a:ln w="3175">
            <a:solidFill>
              <a:srgbClr val="C8501E"/>
            </a:solidFill>
            <a:prstDash val="solid"/>
          </a:ln>
        </p:spPr>
      </p:sp>
      <p:sp>
        <p:nvSpPr>
          <p:cNvPr id="40" name="Random Forest 2023"/>
          <p:cNvSpPr/>
          <p:nvPr/>
        </p:nvSpPr>
        <p:spPr>
          <a:xfrm>
            <a:off x="7415784" y="1463040"/>
            <a:ext cx="137160" cy="292608"/>
          </a:xfrm>
          <a:prstGeom prst="rect">
            <a:avLst/>
          </a:prstGeom>
          <a:solidFill>
            <a:srgbClr val="D9D5CF"/>
          </a:solidFill>
          <a:ln w="3175">
            <a:solidFill>
              <a:srgbClr val="D9D5CF"/>
            </a:solidFill>
            <a:prstDash val="solid"/>
          </a:ln>
        </p:spPr>
      </p:sp>
      <p:sp>
        <p:nvSpPr>
          <p:cNvPr id="41" name="Random Forest 2024"/>
          <p:cNvSpPr/>
          <p:nvPr/>
        </p:nvSpPr>
        <p:spPr>
          <a:xfrm>
            <a:off x="7571232" y="1463040"/>
            <a:ext cx="137160" cy="292608"/>
          </a:xfrm>
          <a:prstGeom prst="rect">
            <a:avLst/>
          </a:prstGeom>
          <a:solidFill>
            <a:srgbClr val="C8501E"/>
          </a:solidFill>
          <a:ln w="3175">
            <a:solidFill>
              <a:srgbClr val="C8501E"/>
            </a:solidFill>
            <a:prstDash val="solid"/>
          </a:ln>
        </p:spPr>
      </p:sp>
      <p:sp>
        <p:nvSpPr>
          <p:cNvPr id="42" name="Random Forest 2025"/>
          <p:cNvSpPr/>
          <p:nvPr/>
        </p:nvSpPr>
        <p:spPr>
          <a:xfrm>
            <a:off x="7726680" y="1463040"/>
            <a:ext cx="137160" cy="292608"/>
          </a:xfrm>
          <a:prstGeom prst="rect">
            <a:avLst/>
          </a:prstGeom>
          <a:solidFill>
            <a:srgbClr val="C8501E"/>
          </a:solidFill>
          <a:ln w="3175">
            <a:solidFill>
              <a:srgbClr val="C8501E"/>
            </a:solidFill>
            <a:prstDash val="solid"/>
          </a:ln>
        </p:spPr>
      </p:sp>
      <p:sp>
        <p:nvSpPr>
          <p:cNvPr id="43" name="Row total Random Forest"/>
          <p:cNvSpPr txBox="1"/>
          <p:nvPr/>
        </p:nvSpPr>
        <p:spPr>
          <a:xfrm>
            <a:off x="7955280" y="1463040"/>
            <a:ext cx="548640" cy="292608"/>
          </a:xfrm>
          <a:prstGeom prst="rect">
            <a:avLst/>
          </a:prstGeom>
          <a:noFill/>
          <a:ln/>
        </p:spPr>
        <p:txBody>
          <a:bodyPr wrap="square" lIns="0" tIns="0" rIns="0" bIns="0" rtlCol="0" anchor="ctr"/>
          <a:lstStyle/>
          <a:p>
            <a:pPr indent="0" marL="0">
              <a:buNone/>
            </a:pPr>
            <a:r>
              <a:rPr lang="en-US" sz="1100" b="1" dirty="0">
                <a:solidFill>
                  <a:srgbClr val="1F2933"/>
                </a:solidFill>
              </a:rPr>
              <a:t>25/36</a:t>
            </a:r>
            <a:endParaRPr lang="en-US" sz="1100" dirty="0"/>
          </a:p>
        </p:txBody>
      </p:sp>
      <p:sp>
        <p:nvSpPr>
          <p:cNvPr id="44" name="Row label Gradient Boosting"/>
          <p:cNvSpPr txBox="1"/>
          <p:nvPr/>
        </p:nvSpPr>
        <p:spPr>
          <a:xfrm>
            <a:off x="685800" y="1810512"/>
            <a:ext cx="1554480" cy="292608"/>
          </a:xfrm>
          <a:prstGeom prst="rect">
            <a:avLst/>
          </a:prstGeom>
          <a:noFill/>
          <a:ln/>
        </p:spPr>
        <p:txBody>
          <a:bodyPr wrap="square" lIns="0" tIns="0" rIns="0" bIns="0" rtlCol="0" anchor="ctr"/>
          <a:lstStyle/>
          <a:p>
            <a:pPr indent="0" marL="0">
              <a:buNone/>
            </a:pPr>
            <a:r>
              <a:rPr lang="en-US" sz="1100" b="1" dirty="0">
                <a:solidFill>
                  <a:srgbClr val="1F2933"/>
                </a:solidFill>
              </a:rPr>
              <a:t>Gradient Boosting</a:t>
            </a:r>
            <a:endParaRPr lang="en-US" sz="1100" dirty="0"/>
          </a:p>
        </p:txBody>
      </p:sp>
      <p:sp>
        <p:nvSpPr>
          <p:cNvPr id="45" name="Gradient Boosting 1990"/>
          <p:cNvSpPr/>
          <p:nvPr/>
        </p:nvSpPr>
        <p:spPr>
          <a:xfrm>
            <a:off x="2286000" y="1810512"/>
            <a:ext cx="137160" cy="292608"/>
          </a:xfrm>
          <a:prstGeom prst="rect">
            <a:avLst/>
          </a:prstGeom>
          <a:solidFill>
            <a:srgbClr val="C8501E"/>
          </a:solidFill>
          <a:ln w="3175">
            <a:solidFill>
              <a:srgbClr val="C8501E"/>
            </a:solidFill>
            <a:prstDash val="solid"/>
          </a:ln>
        </p:spPr>
      </p:sp>
      <p:sp>
        <p:nvSpPr>
          <p:cNvPr id="46" name="Gradient Boosting 1991"/>
          <p:cNvSpPr/>
          <p:nvPr/>
        </p:nvSpPr>
        <p:spPr>
          <a:xfrm>
            <a:off x="2441448" y="1810512"/>
            <a:ext cx="137160" cy="292608"/>
          </a:xfrm>
          <a:prstGeom prst="rect">
            <a:avLst/>
          </a:prstGeom>
          <a:solidFill>
            <a:srgbClr val="C8501E"/>
          </a:solidFill>
          <a:ln w="3175">
            <a:solidFill>
              <a:srgbClr val="C8501E"/>
            </a:solidFill>
            <a:prstDash val="solid"/>
          </a:ln>
        </p:spPr>
      </p:sp>
      <p:sp>
        <p:nvSpPr>
          <p:cNvPr id="47" name="Gradient Boosting 1992"/>
          <p:cNvSpPr/>
          <p:nvPr/>
        </p:nvSpPr>
        <p:spPr>
          <a:xfrm>
            <a:off x="2596896" y="1810512"/>
            <a:ext cx="137160" cy="292608"/>
          </a:xfrm>
          <a:prstGeom prst="rect">
            <a:avLst/>
          </a:prstGeom>
          <a:solidFill>
            <a:srgbClr val="C8501E"/>
          </a:solidFill>
          <a:ln w="3175">
            <a:solidFill>
              <a:srgbClr val="C8501E"/>
            </a:solidFill>
            <a:prstDash val="solid"/>
          </a:ln>
        </p:spPr>
      </p:sp>
      <p:sp>
        <p:nvSpPr>
          <p:cNvPr id="48" name="Gradient Boosting 1993"/>
          <p:cNvSpPr/>
          <p:nvPr/>
        </p:nvSpPr>
        <p:spPr>
          <a:xfrm>
            <a:off x="2752344" y="1810512"/>
            <a:ext cx="137160" cy="292608"/>
          </a:xfrm>
          <a:prstGeom prst="rect">
            <a:avLst/>
          </a:prstGeom>
          <a:solidFill>
            <a:srgbClr val="D9D5CF"/>
          </a:solidFill>
          <a:ln w="3175">
            <a:solidFill>
              <a:srgbClr val="D9D5CF"/>
            </a:solidFill>
            <a:prstDash val="solid"/>
          </a:ln>
        </p:spPr>
      </p:sp>
      <p:sp>
        <p:nvSpPr>
          <p:cNvPr id="49" name="Gradient Boosting 1994"/>
          <p:cNvSpPr/>
          <p:nvPr/>
        </p:nvSpPr>
        <p:spPr>
          <a:xfrm>
            <a:off x="2907792" y="1810512"/>
            <a:ext cx="137160" cy="292608"/>
          </a:xfrm>
          <a:prstGeom prst="rect">
            <a:avLst/>
          </a:prstGeom>
          <a:solidFill>
            <a:srgbClr val="D9D5CF"/>
          </a:solidFill>
          <a:ln w="3175">
            <a:solidFill>
              <a:srgbClr val="D9D5CF"/>
            </a:solidFill>
            <a:prstDash val="solid"/>
          </a:ln>
        </p:spPr>
      </p:sp>
      <p:sp>
        <p:nvSpPr>
          <p:cNvPr id="50" name="Gradient Boosting 1995"/>
          <p:cNvSpPr/>
          <p:nvPr/>
        </p:nvSpPr>
        <p:spPr>
          <a:xfrm>
            <a:off x="3063240" y="1810512"/>
            <a:ext cx="137160" cy="292608"/>
          </a:xfrm>
          <a:prstGeom prst="rect">
            <a:avLst/>
          </a:prstGeom>
          <a:solidFill>
            <a:srgbClr val="C8501E"/>
          </a:solidFill>
          <a:ln w="3175">
            <a:solidFill>
              <a:srgbClr val="C8501E"/>
            </a:solidFill>
            <a:prstDash val="solid"/>
          </a:ln>
        </p:spPr>
      </p:sp>
      <p:sp>
        <p:nvSpPr>
          <p:cNvPr id="51" name="Gradient Boosting 1996"/>
          <p:cNvSpPr/>
          <p:nvPr/>
        </p:nvSpPr>
        <p:spPr>
          <a:xfrm>
            <a:off x="3218688" y="1810512"/>
            <a:ext cx="137160" cy="292608"/>
          </a:xfrm>
          <a:prstGeom prst="rect">
            <a:avLst/>
          </a:prstGeom>
          <a:solidFill>
            <a:srgbClr val="C8501E"/>
          </a:solidFill>
          <a:ln w="3175">
            <a:solidFill>
              <a:srgbClr val="C8501E"/>
            </a:solidFill>
            <a:prstDash val="solid"/>
          </a:ln>
        </p:spPr>
      </p:sp>
      <p:sp>
        <p:nvSpPr>
          <p:cNvPr id="52" name="Gradient Boosting 1997"/>
          <p:cNvSpPr/>
          <p:nvPr/>
        </p:nvSpPr>
        <p:spPr>
          <a:xfrm>
            <a:off x="3374136" y="1810512"/>
            <a:ext cx="137160" cy="292608"/>
          </a:xfrm>
          <a:prstGeom prst="rect">
            <a:avLst/>
          </a:prstGeom>
          <a:solidFill>
            <a:srgbClr val="D9D5CF"/>
          </a:solidFill>
          <a:ln w="3175">
            <a:solidFill>
              <a:srgbClr val="D9D5CF"/>
            </a:solidFill>
            <a:prstDash val="solid"/>
          </a:ln>
        </p:spPr>
      </p:sp>
      <p:sp>
        <p:nvSpPr>
          <p:cNvPr id="53" name="Gradient Boosting 1998"/>
          <p:cNvSpPr/>
          <p:nvPr/>
        </p:nvSpPr>
        <p:spPr>
          <a:xfrm>
            <a:off x="3529584" y="1810512"/>
            <a:ext cx="137160" cy="292608"/>
          </a:xfrm>
          <a:prstGeom prst="rect">
            <a:avLst/>
          </a:prstGeom>
          <a:solidFill>
            <a:srgbClr val="D9D5CF"/>
          </a:solidFill>
          <a:ln w="3175">
            <a:solidFill>
              <a:srgbClr val="D9D5CF"/>
            </a:solidFill>
            <a:prstDash val="solid"/>
          </a:ln>
        </p:spPr>
      </p:sp>
      <p:sp>
        <p:nvSpPr>
          <p:cNvPr id="54" name="Gradient Boosting 1999"/>
          <p:cNvSpPr/>
          <p:nvPr/>
        </p:nvSpPr>
        <p:spPr>
          <a:xfrm>
            <a:off x="3685032" y="1810512"/>
            <a:ext cx="137160" cy="292608"/>
          </a:xfrm>
          <a:prstGeom prst="rect">
            <a:avLst/>
          </a:prstGeom>
          <a:solidFill>
            <a:srgbClr val="C8501E"/>
          </a:solidFill>
          <a:ln w="3175">
            <a:solidFill>
              <a:srgbClr val="C8501E"/>
            </a:solidFill>
            <a:prstDash val="solid"/>
          </a:ln>
        </p:spPr>
      </p:sp>
      <p:sp>
        <p:nvSpPr>
          <p:cNvPr id="55" name="Gradient Boosting 2000"/>
          <p:cNvSpPr/>
          <p:nvPr/>
        </p:nvSpPr>
        <p:spPr>
          <a:xfrm>
            <a:off x="3840480" y="1810512"/>
            <a:ext cx="137160" cy="292608"/>
          </a:xfrm>
          <a:prstGeom prst="rect">
            <a:avLst/>
          </a:prstGeom>
          <a:solidFill>
            <a:srgbClr val="C8501E"/>
          </a:solidFill>
          <a:ln w="3175">
            <a:solidFill>
              <a:srgbClr val="C8501E"/>
            </a:solidFill>
            <a:prstDash val="solid"/>
          </a:ln>
        </p:spPr>
      </p:sp>
      <p:sp>
        <p:nvSpPr>
          <p:cNvPr id="56" name="Gradient Boosting 2001"/>
          <p:cNvSpPr/>
          <p:nvPr/>
        </p:nvSpPr>
        <p:spPr>
          <a:xfrm>
            <a:off x="3995928" y="1810512"/>
            <a:ext cx="137160" cy="292608"/>
          </a:xfrm>
          <a:prstGeom prst="rect">
            <a:avLst/>
          </a:prstGeom>
          <a:solidFill>
            <a:srgbClr val="D9D5CF"/>
          </a:solidFill>
          <a:ln w="3175">
            <a:solidFill>
              <a:srgbClr val="D9D5CF"/>
            </a:solidFill>
            <a:prstDash val="solid"/>
          </a:ln>
        </p:spPr>
      </p:sp>
      <p:sp>
        <p:nvSpPr>
          <p:cNvPr id="57" name="Gradient Boosting 2002"/>
          <p:cNvSpPr/>
          <p:nvPr/>
        </p:nvSpPr>
        <p:spPr>
          <a:xfrm>
            <a:off x="4151376" y="1810512"/>
            <a:ext cx="137160" cy="292608"/>
          </a:xfrm>
          <a:prstGeom prst="rect">
            <a:avLst/>
          </a:prstGeom>
          <a:solidFill>
            <a:srgbClr val="C8501E"/>
          </a:solidFill>
          <a:ln w="3175">
            <a:solidFill>
              <a:srgbClr val="C8501E"/>
            </a:solidFill>
            <a:prstDash val="solid"/>
          </a:ln>
        </p:spPr>
      </p:sp>
      <p:sp>
        <p:nvSpPr>
          <p:cNvPr id="58" name="Gradient Boosting 2003"/>
          <p:cNvSpPr/>
          <p:nvPr/>
        </p:nvSpPr>
        <p:spPr>
          <a:xfrm>
            <a:off x="4306824" y="1810512"/>
            <a:ext cx="137160" cy="292608"/>
          </a:xfrm>
          <a:prstGeom prst="rect">
            <a:avLst/>
          </a:prstGeom>
          <a:solidFill>
            <a:srgbClr val="C8501E"/>
          </a:solidFill>
          <a:ln w="3175">
            <a:solidFill>
              <a:srgbClr val="C8501E"/>
            </a:solidFill>
            <a:prstDash val="solid"/>
          </a:ln>
        </p:spPr>
      </p:sp>
      <p:sp>
        <p:nvSpPr>
          <p:cNvPr id="59" name="Gradient Boosting 2004"/>
          <p:cNvSpPr/>
          <p:nvPr/>
        </p:nvSpPr>
        <p:spPr>
          <a:xfrm>
            <a:off x="4462272" y="1810512"/>
            <a:ext cx="137160" cy="292608"/>
          </a:xfrm>
          <a:prstGeom prst="rect">
            <a:avLst/>
          </a:prstGeom>
          <a:solidFill>
            <a:srgbClr val="C8501E"/>
          </a:solidFill>
          <a:ln w="3175">
            <a:solidFill>
              <a:srgbClr val="C8501E"/>
            </a:solidFill>
            <a:prstDash val="solid"/>
          </a:ln>
        </p:spPr>
      </p:sp>
      <p:sp>
        <p:nvSpPr>
          <p:cNvPr id="60" name="Gradient Boosting 2005"/>
          <p:cNvSpPr/>
          <p:nvPr/>
        </p:nvSpPr>
        <p:spPr>
          <a:xfrm>
            <a:off x="4617720" y="1810512"/>
            <a:ext cx="137160" cy="292608"/>
          </a:xfrm>
          <a:prstGeom prst="rect">
            <a:avLst/>
          </a:prstGeom>
          <a:solidFill>
            <a:srgbClr val="D9D5CF"/>
          </a:solidFill>
          <a:ln w="3175">
            <a:solidFill>
              <a:srgbClr val="D9D5CF"/>
            </a:solidFill>
            <a:prstDash val="solid"/>
          </a:ln>
        </p:spPr>
      </p:sp>
      <p:sp>
        <p:nvSpPr>
          <p:cNvPr id="61" name="Gradient Boosting 2006"/>
          <p:cNvSpPr/>
          <p:nvPr/>
        </p:nvSpPr>
        <p:spPr>
          <a:xfrm>
            <a:off x="4773168" y="1810512"/>
            <a:ext cx="137160" cy="292608"/>
          </a:xfrm>
          <a:prstGeom prst="rect">
            <a:avLst/>
          </a:prstGeom>
          <a:solidFill>
            <a:srgbClr val="D9D5CF"/>
          </a:solidFill>
          <a:ln w="3175">
            <a:solidFill>
              <a:srgbClr val="D9D5CF"/>
            </a:solidFill>
            <a:prstDash val="solid"/>
          </a:ln>
        </p:spPr>
      </p:sp>
      <p:sp>
        <p:nvSpPr>
          <p:cNvPr id="62" name="Gradient Boosting 2007"/>
          <p:cNvSpPr/>
          <p:nvPr/>
        </p:nvSpPr>
        <p:spPr>
          <a:xfrm>
            <a:off x="4928616" y="1810512"/>
            <a:ext cx="137160" cy="292608"/>
          </a:xfrm>
          <a:prstGeom prst="rect">
            <a:avLst/>
          </a:prstGeom>
          <a:solidFill>
            <a:srgbClr val="C8501E"/>
          </a:solidFill>
          <a:ln w="3175">
            <a:solidFill>
              <a:srgbClr val="C8501E"/>
            </a:solidFill>
            <a:prstDash val="solid"/>
          </a:ln>
        </p:spPr>
      </p:sp>
      <p:sp>
        <p:nvSpPr>
          <p:cNvPr id="63" name="Gradient Boosting 2008"/>
          <p:cNvSpPr/>
          <p:nvPr/>
        </p:nvSpPr>
        <p:spPr>
          <a:xfrm>
            <a:off x="5084064" y="1810512"/>
            <a:ext cx="137160" cy="292608"/>
          </a:xfrm>
          <a:prstGeom prst="rect">
            <a:avLst/>
          </a:prstGeom>
          <a:solidFill>
            <a:srgbClr val="D9D5CF"/>
          </a:solidFill>
          <a:ln w="3175">
            <a:solidFill>
              <a:srgbClr val="D9D5CF"/>
            </a:solidFill>
            <a:prstDash val="solid"/>
          </a:ln>
        </p:spPr>
      </p:sp>
      <p:sp>
        <p:nvSpPr>
          <p:cNvPr id="64" name="Gradient Boosting 2009"/>
          <p:cNvSpPr/>
          <p:nvPr/>
        </p:nvSpPr>
        <p:spPr>
          <a:xfrm>
            <a:off x="5239512" y="1810512"/>
            <a:ext cx="137160" cy="292608"/>
          </a:xfrm>
          <a:prstGeom prst="rect">
            <a:avLst/>
          </a:prstGeom>
          <a:solidFill>
            <a:srgbClr val="C8501E"/>
          </a:solidFill>
          <a:ln w="3175">
            <a:solidFill>
              <a:srgbClr val="C8501E"/>
            </a:solidFill>
            <a:prstDash val="solid"/>
          </a:ln>
        </p:spPr>
      </p:sp>
      <p:sp>
        <p:nvSpPr>
          <p:cNvPr id="65" name="Gradient Boosting 2010"/>
          <p:cNvSpPr/>
          <p:nvPr/>
        </p:nvSpPr>
        <p:spPr>
          <a:xfrm>
            <a:off x="5394960" y="1810512"/>
            <a:ext cx="137160" cy="292608"/>
          </a:xfrm>
          <a:prstGeom prst="rect">
            <a:avLst/>
          </a:prstGeom>
          <a:solidFill>
            <a:srgbClr val="C8501E"/>
          </a:solidFill>
          <a:ln w="3175">
            <a:solidFill>
              <a:srgbClr val="C8501E"/>
            </a:solidFill>
            <a:prstDash val="solid"/>
          </a:ln>
        </p:spPr>
      </p:sp>
      <p:sp>
        <p:nvSpPr>
          <p:cNvPr id="66" name="Gradient Boosting 2011"/>
          <p:cNvSpPr/>
          <p:nvPr/>
        </p:nvSpPr>
        <p:spPr>
          <a:xfrm>
            <a:off x="5550408" y="1810512"/>
            <a:ext cx="137160" cy="292608"/>
          </a:xfrm>
          <a:prstGeom prst="rect">
            <a:avLst/>
          </a:prstGeom>
          <a:solidFill>
            <a:srgbClr val="C8501E"/>
          </a:solidFill>
          <a:ln w="3175">
            <a:solidFill>
              <a:srgbClr val="C8501E"/>
            </a:solidFill>
            <a:prstDash val="solid"/>
          </a:ln>
        </p:spPr>
      </p:sp>
      <p:sp>
        <p:nvSpPr>
          <p:cNvPr id="67" name="Gradient Boosting 2012"/>
          <p:cNvSpPr/>
          <p:nvPr/>
        </p:nvSpPr>
        <p:spPr>
          <a:xfrm>
            <a:off x="5705856" y="1810512"/>
            <a:ext cx="137160" cy="292608"/>
          </a:xfrm>
          <a:prstGeom prst="rect">
            <a:avLst/>
          </a:prstGeom>
          <a:solidFill>
            <a:srgbClr val="D9D5CF"/>
          </a:solidFill>
          <a:ln w="3175">
            <a:solidFill>
              <a:srgbClr val="D9D5CF"/>
            </a:solidFill>
            <a:prstDash val="solid"/>
          </a:ln>
        </p:spPr>
      </p:sp>
      <p:sp>
        <p:nvSpPr>
          <p:cNvPr id="68" name="Gradient Boosting 2013"/>
          <p:cNvSpPr/>
          <p:nvPr/>
        </p:nvSpPr>
        <p:spPr>
          <a:xfrm>
            <a:off x="5861304" y="1810512"/>
            <a:ext cx="137160" cy="292608"/>
          </a:xfrm>
          <a:prstGeom prst="rect">
            <a:avLst/>
          </a:prstGeom>
          <a:solidFill>
            <a:srgbClr val="C8501E"/>
          </a:solidFill>
          <a:ln w="3175">
            <a:solidFill>
              <a:srgbClr val="C8501E"/>
            </a:solidFill>
            <a:prstDash val="solid"/>
          </a:ln>
        </p:spPr>
      </p:sp>
      <p:sp>
        <p:nvSpPr>
          <p:cNvPr id="69" name="Gradient Boosting 2014"/>
          <p:cNvSpPr/>
          <p:nvPr/>
        </p:nvSpPr>
        <p:spPr>
          <a:xfrm>
            <a:off x="6016752" y="1810512"/>
            <a:ext cx="137160" cy="292608"/>
          </a:xfrm>
          <a:prstGeom prst="rect">
            <a:avLst/>
          </a:prstGeom>
          <a:solidFill>
            <a:srgbClr val="C8501E"/>
          </a:solidFill>
          <a:ln w="3175">
            <a:solidFill>
              <a:srgbClr val="C8501E"/>
            </a:solidFill>
            <a:prstDash val="solid"/>
          </a:ln>
        </p:spPr>
      </p:sp>
      <p:sp>
        <p:nvSpPr>
          <p:cNvPr id="70" name="Gradient Boosting 2015"/>
          <p:cNvSpPr/>
          <p:nvPr/>
        </p:nvSpPr>
        <p:spPr>
          <a:xfrm>
            <a:off x="6172200" y="1810512"/>
            <a:ext cx="137160" cy="292608"/>
          </a:xfrm>
          <a:prstGeom prst="rect">
            <a:avLst/>
          </a:prstGeom>
          <a:solidFill>
            <a:srgbClr val="C8501E"/>
          </a:solidFill>
          <a:ln w="3175">
            <a:solidFill>
              <a:srgbClr val="C8501E"/>
            </a:solidFill>
            <a:prstDash val="solid"/>
          </a:ln>
        </p:spPr>
      </p:sp>
      <p:sp>
        <p:nvSpPr>
          <p:cNvPr id="71" name="Gradient Boosting 2016"/>
          <p:cNvSpPr/>
          <p:nvPr/>
        </p:nvSpPr>
        <p:spPr>
          <a:xfrm>
            <a:off x="6327648" y="1810512"/>
            <a:ext cx="137160" cy="292608"/>
          </a:xfrm>
          <a:prstGeom prst="rect">
            <a:avLst/>
          </a:prstGeom>
          <a:solidFill>
            <a:srgbClr val="C8501E"/>
          </a:solidFill>
          <a:ln w="3175">
            <a:solidFill>
              <a:srgbClr val="C8501E"/>
            </a:solidFill>
            <a:prstDash val="solid"/>
          </a:ln>
        </p:spPr>
      </p:sp>
      <p:sp>
        <p:nvSpPr>
          <p:cNvPr id="72" name="Gradient Boosting 2017"/>
          <p:cNvSpPr/>
          <p:nvPr/>
        </p:nvSpPr>
        <p:spPr>
          <a:xfrm>
            <a:off x="6483096" y="1810512"/>
            <a:ext cx="137160" cy="292608"/>
          </a:xfrm>
          <a:prstGeom prst="rect">
            <a:avLst/>
          </a:prstGeom>
          <a:solidFill>
            <a:srgbClr val="D9D5CF"/>
          </a:solidFill>
          <a:ln w="3175">
            <a:solidFill>
              <a:srgbClr val="D9D5CF"/>
            </a:solidFill>
            <a:prstDash val="solid"/>
          </a:ln>
        </p:spPr>
      </p:sp>
      <p:sp>
        <p:nvSpPr>
          <p:cNvPr id="73" name="Gradient Boosting 2018"/>
          <p:cNvSpPr/>
          <p:nvPr/>
        </p:nvSpPr>
        <p:spPr>
          <a:xfrm>
            <a:off x="6638544" y="1810512"/>
            <a:ext cx="137160" cy="292608"/>
          </a:xfrm>
          <a:prstGeom prst="rect">
            <a:avLst/>
          </a:prstGeom>
          <a:solidFill>
            <a:srgbClr val="C8501E"/>
          </a:solidFill>
          <a:ln w="3175">
            <a:solidFill>
              <a:srgbClr val="C8501E"/>
            </a:solidFill>
            <a:prstDash val="solid"/>
          </a:ln>
        </p:spPr>
      </p:sp>
      <p:sp>
        <p:nvSpPr>
          <p:cNvPr id="74" name="Gradient Boosting 2019"/>
          <p:cNvSpPr/>
          <p:nvPr/>
        </p:nvSpPr>
        <p:spPr>
          <a:xfrm>
            <a:off x="6793992" y="1810512"/>
            <a:ext cx="137160" cy="292608"/>
          </a:xfrm>
          <a:prstGeom prst="rect">
            <a:avLst/>
          </a:prstGeom>
          <a:solidFill>
            <a:srgbClr val="D9D5CF"/>
          </a:solidFill>
          <a:ln w="3175">
            <a:solidFill>
              <a:srgbClr val="D9D5CF"/>
            </a:solidFill>
            <a:prstDash val="solid"/>
          </a:ln>
        </p:spPr>
      </p:sp>
      <p:sp>
        <p:nvSpPr>
          <p:cNvPr id="75" name="Gradient Boosting 2020"/>
          <p:cNvSpPr/>
          <p:nvPr/>
        </p:nvSpPr>
        <p:spPr>
          <a:xfrm>
            <a:off x="6949440" y="1810512"/>
            <a:ext cx="137160" cy="292608"/>
          </a:xfrm>
          <a:prstGeom prst="rect">
            <a:avLst/>
          </a:prstGeom>
          <a:solidFill>
            <a:srgbClr val="C8501E"/>
          </a:solidFill>
          <a:ln w="3175">
            <a:solidFill>
              <a:srgbClr val="C8501E"/>
            </a:solidFill>
            <a:prstDash val="solid"/>
          </a:ln>
        </p:spPr>
      </p:sp>
      <p:sp>
        <p:nvSpPr>
          <p:cNvPr id="76" name="Gradient Boosting 2021"/>
          <p:cNvSpPr/>
          <p:nvPr/>
        </p:nvSpPr>
        <p:spPr>
          <a:xfrm>
            <a:off x="7104888" y="1810512"/>
            <a:ext cx="137160" cy="292608"/>
          </a:xfrm>
          <a:prstGeom prst="rect">
            <a:avLst/>
          </a:prstGeom>
          <a:solidFill>
            <a:srgbClr val="C8501E"/>
          </a:solidFill>
          <a:ln w="3175">
            <a:solidFill>
              <a:srgbClr val="C8501E"/>
            </a:solidFill>
            <a:prstDash val="solid"/>
          </a:ln>
        </p:spPr>
      </p:sp>
      <p:sp>
        <p:nvSpPr>
          <p:cNvPr id="77" name="Gradient Boosting 2022"/>
          <p:cNvSpPr/>
          <p:nvPr/>
        </p:nvSpPr>
        <p:spPr>
          <a:xfrm>
            <a:off x="7260336" y="1810512"/>
            <a:ext cx="137160" cy="292608"/>
          </a:xfrm>
          <a:prstGeom prst="rect">
            <a:avLst/>
          </a:prstGeom>
          <a:solidFill>
            <a:srgbClr val="C8501E"/>
          </a:solidFill>
          <a:ln w="3175">
            <a:solidFill>
              <a:srgbClr val="C8501E"/>
            </a:solidFill>
            <a:prstDash val="solid"/>
          </a:ln>
        </p:spPr>
      </p:sp>
      <p:sp>
        <p:nvSpPr>
          <p:cNvPr id="78" name="Gradient Boosting 2023"/>
          <p:cNvSpPr/>
          <p:nvPr/>
        </p:nvSpPr>
        <p:spPr>
          <a:xfrm>
            <a:off x="7415784" y="1810512"/>
            <a:ext cx="137160" cy="292608"/>
          </a:xfrm>
          <a:prstGeom prst="rect">
            <a:avLst/>
          </a:prstGeom>
          <a:solidFill>
            <a:srgbClr val="D9D5CF"/>
          </a:solidFill>
          <a:ln w="3175">
            <a:solidFill>
              <a:srgbClr val="D9D5CF"/>
            </a:solidFill>
            <a:prstDash val="solid"/>
          </a:ln>
        </p:spPr>
      </p:sp>
      <p:sp>
        <p:nvSpPr>
          <p:cNvPr id="79" name="Gradient Boosting 2024"/>
          <p:cNvSpPr/>
          <p:nvPr/>
        </p:nvSpPr>
        <p:spPr>
          <a:xfrm>
            <a:off x="7571232" y="1810512"/>
            <a:ext cx="137160" cy="292608"/>
          </a:xfrm>
          <a:prstGeom prst="rect">
            <a:avLst/>
          </a:prstGeom>
          <a:solidFill>
            <a:srgbClr val="C8501E"/>
          </a:solidFill>
          <a:ln w="3175">
            <a:solidFill>
              <a:srgbClr val="C8501E"/>
            </a:solidFill>
            <a:prstDash val="solid"/>
          </a:ln>
        </p:spPr>
      </p:sp>
      <p:sp>
        <p:nvSpPr>
          <p:cNvPr id="80" name="Gradient Boosting 2025"/>
          <p:cNvSpPr/>
          <p:nvPr/>
        </p:nvSpPr>
        <p:spPr>
          <a:xfrm>
            <a:off x="7726680" y="1810512"/>
            <a:ext cx="137160" cy="292608"/>
          </a:xfrm>
          <a:prstGeom prst="rect">
            <a:avLst/>
          </a:prstGeom>
          <a:solidFill>
            <a:srgbClr val="C8501E"/>
          </a:solidFill>
          <a:ln w="3175">
            <a:solidFill>
              <a:srgbClr val="C8501E"/>
            </a:solidFill>
            <a:prstDash val="solid"/>
          </a:ln>
        </p:spPr>
      </p:sp>
      <p:sp>
        <p:nvSpPr>
          <p:cNvPr id="81" name="Row total Gradient Boosting"/>
          <p:cNvSpPr txBox="1"/>
          <p:nvPr/>
        </p:nvSpPr>
        <p:spPr>
          <a:xfrm>
            <a:off x="7955280" y="1810512"/>
            <a:ext cx="548640" cy="292608"/>
          </a:xfrm>
          <a:prstGeom prst="rect">
            <a:avLst/>
          </a:prstGeom>
          <a:noFill/>
          <a:ln/>
        </p:spPr>
        <p:txBody>
          <a:bodyPr wrap="square" lIns="0" tIns="0" rIns="0" bIns="0" rtlCol="0" anchor="ctr"/>
          <a:lstStyle/>
          <a:p>
            <a:pPr indent="0" marL="0">
              <a:buNone/>
            </a:pPr>
            <a:r>
              <a:rPr lang="en-US" sz="1100" b="1" dirty="0">
                <a:solidFill>
                  <a:srgbClr val="1F2933"/>
                </a:solidFill>
              </a:rPr>
              <a:t>24/36</a:t>
            </a:r>
            <a:endParaRPr lang="en-US" sz="1100" dirty="0"/>
          </a:p>
        </p:txBody>
      </p:sp>
      <p:sp>
        <p:nvSpPr>
          <p:cNvPr id="82" name="Row label Ridge Regression"/>
          <p:cNvSpPr txBox="1"/>
          <p:nvPr/>
        </p:nvSpPr>
        <p:spPr>
          <a:xfrm>
            <a:off x="685800" y="2157984"/>
            <a:ext cx="1554480" cy="292608"/>
          </a:xfrm>
          <a:prstGeom prst="rect">
            <a:avLst/>
          </a:prstGeom>
          <a:noFill/>
          <a:ln/>
        </p:spPr>
        <p:txBody>
          <a:bodyPr wrap="square" lIns="0" tIns="0" rIns="0" bIns="0" rtlCol="0" anchor="ctr"/>
          <a:lstStyle/>
          <a:p>
            <a:pPr indent="0" marL="0">
              <a:buNone/>
            </a:pPr>
            <a:r>
              <a:rPr lang="en-US" sz="1100" b="1" dirty="0">
                <a:solidFill>
                  <a:srgbClr val="1F2933"/>
                </a:solidFill>
              </a:rPr>
              <a:t>Ridge Regression</a:t>
            </a:r>
            <a:endParaRPr lang="en-US" sz="1100" dirty="0"/>
          </a:p>
        </p:txBody>
      </p:sp>
      <p:sp>
        <p:nvSpPr>
          <p:cNvPr id="83" name="Ridge Regression 1990"/>
          <p:cNvSpPr/>
          <p:nvPr/>
        </p:nvSpPr>
        <p:spPr>
          <a:xfrm>
            <a:off x="2286000" y="2157984"/>
            <a:ext cx="137160" cy="292608"/>
          </a:xfrm>
          <a:prstGeom prst="rect">
            <a:avLst/>
          </a:prstGeom>
          <a:solidFill>
            <a:srgbClr val="D9D5CF"/>
          </a:solidFill>
          <a:ln w="3175">
            <a:solidFill>
              <a:srgbClr val="D9D5CF"/>
            </a:solidFill>
            <a:prstDash val="solid"/>
          </a:ln>
        </p:spPr>
      </p:sp>
      <p:sp>
        <p:nvSpPr>
          <p:cNvPr id="84" name="Ridge Regression 1991"/>
          <p:cNvSpPr/>
          <p:nvPr/>
        </p:nvSpPr>
        <p:spPr>
          <a:xfrm>
            <a:off x="2441448" y="2157984"/>
            <a:ext cx="137160" cy="292608"/>
          </a:xfrm>
          <a:prstGeom prst="rect">
            <a:avLst/>
          </a:prstGeom>
          <a:solidFill>
            <a:srgbClr val="C8501E"/>
          </a:solidFill>
          <a:ln w="3175">
            <a:solidFill>
              <a:srgbClr val="C8501E"/>
            </a:solidFill>
            <a:prstDash val="solid"/>
          </a:ln>
        </p:spPr>
      </p:sp>
      <p:sp>
        <p:nvSpPr>
          <p:cNvPr id="85" name="Ridge Regression 1992"/>
          <p:cNvSpPr/>
          <p:nvPr/>
        </p:nvSpPr>
        <p:spPr>
          <a:xfrm>
            <a:off x="2596896" y="2157984"/>
            <a:ext cx="137160" cy="292608"/>
          </a:xfrm>
          <a:prstGeom prst="rect">
            <a:avLst/>
          </a:prstGeom>
          <a:solidFill>
            <a:srgbClr val="C8501E"/>
          </a:solidFill>
          <a:ln w="3175">
            <a:solidFill>
              <a:srgbClr val="C8501E"/>
            </a:solidFill>
            <a:prstDash val="solid"/>
          </a:ln>
        </p:spPr>
      </p:sp>
      <p:sp>
        <p:nvSpPr>
          <p:cNvPr id="86" name="Ridge Regression 1993"/>
          <p:cNvSpPr/>
          <p:nvPr/>
        </p:nvSpPr>
        <p:spPr>
          <a:xfrm>
            <a:off x="2752344" y="2157984"/>
            <a:ext cx="137160" cy="292608"/>
          </a:xfrm>
          <a:prstGeom prst="rect">
            <a:avLst/>
          </a:prstGeom>
          <a:solidFill>
            <a:srgbClr val="D9D5CF"/>
          </a:solidFill>
          <a:ln w="3175">
            <a:solidFill>
              <a:srgbClr val="D9D5CF"/>
            </a:solidFill>
            <a:prstDash val="solid"/>
          </a:ln>
        </p:spPr>
      </p:sp>
      <p:sp>
        <p:nvSpPr>
          <p:cNvPr id="87" name="Ridge Regression 1994"/>
          <p:cNvSpPr/>
          <p:nvPr/>
        </p:nvSpPr>
        <p:spPr>
          <a:xfrm>
            <a:off x="2907792" y="2157984"/>
            <a:ext cx="137160" cy="292608"/>
          </a:xfrm>
          <a:prstGeom prst="rect">
            <a:avLst/>
          </a:prstGeom>
          <a:solidFill>
            <a:srgbClr val="D9D5CF"/>
          </a:solidFill>
          <a:ln w="3175">
            <a:solidFill>
              <a:srgbClr val="D9D5CF"/>
            </a:solidFill>
            <a:prstDash val="solid"/>
          </a:ln>
        </p:spPr>
      </p:sp>
      <p:sp>
        <p:nvSpPr>
          <p:cNvPr id="88" name="Ridge Regression 1995"/>
          <p:cNvSpPr/>
          <p:nvPr/>
        </p:nvSpPr>
        <p:spPr>
          <a:xfrm>
            <a:off x="3063240" y="2157984"/>
            <a:ext cx="137160" cy="292608"/>
          </a:xfrm>
          <a:prstGeom prst="rect">
            <a:avLst/>
          </a:prstGeom>
          <a:solidFill>
            <a:srgbClr val="C8501E"/>
          </a:solidFill>
          <a:ln w="3175">
            <a:solidFill>
              <a:srgbClr val="C8501E"/>
            </a:solidFill>
            <a:prstDash val="solid"/>
          </a:ln>
        </p:spPr>
      </p:sp>
      <p:sp>
        <p:nvSpPr>
          <p:cNvPr id="89" name="Ridge Regression 1996"/>
          <p:cNvSpPr/>
          <p:nvPr/>
        </p:nvSpPr>
        <p:spPr>
          <a:xfrm>
            <a:off x="3218688" y="2157984"/>
            <a:ext cx="137160" cy="292608"/>
          </a:xfrm>
          <a:prstGeom prst="rect">
            <a:avLst/>
          </a:prstGeom>
          <a:solidFill>
            <a:srgbClr val="C8501E"/>
          </a:solidFill>
          <a:ln w="3175">
            <a:solidFill>
              <a:srgbClr val="C8501E"/>
            </a:solidFill>
            <a:prstDash val="solid"/>
          </a:ln>
        </p:spPr>
      </p:sp>
      <p:sp>
        <p:nvSpPr>
          <p:cNvPr id="90" name="Ridge Regression 1997"/>
          <p:cNvSpPr/>
          <p:nvPr/>
        </p:nvSpPr>
        <p:spPr>
          <a:xfrm>
            <a:off x="3374136" y="2157984"/>
            <a:ext cx="137160" cy="292608"/>
          </a:xfrm>
          <a:prstGeom prst="rect">
            <a:avLst/>
          </a:prstGeom>
          <a:solidFill>
            <a:srgbClr val="D9D5CF"/>
          </a:solidFill>
          <a:ln w="3175">
            <a:solidFill>
              <a:srgbClr val="D9D5CF"/>
            </a:solidFill>
            <a:prstDash val="solid"/>
          </a:ln>
        </p:spPr>
      </p:sp>
      <p:sp>
        <p:nvSpPr>
          <p:cNvPr id="91" name="Ridge Regression 1998"/>
          <p:cNvSpPr/>
          <p:nvPr/>
        </p:nvSpPr>
        <p:spPr>
          <a:xfrm>
            <a:off x="3529584" y="2157984"/>
            <a:ext cx="137160" cy="292608"/>
          </a:xfrm>
          <a:prstGeom prst="rect">
            <a:avLst/>
          </a:prstGeom>
          <a:solidFill>
            <a:srgbClr val="D9D5CF"/>
          </a:solidFill>
          <a:ln w="3175">
            <a:solidFill>
              <a:srgbClr val="D9D5CF"/>
            </a:solidFill>
            <a:prstDash val="solid"/>
          </a:ln>
        </p:spPr>
      </p:sp>
      <p:sp>
        <p:nvSpPr>
          <p:cNvPr id="92" name="Ridge Regression 1999"/>
          <p:cNvSpPr/>
          <p:nvPr/>
        </p:nvSpPr>
        <p:spPr>
          <a:xfrm>
            <a:off x="3685032" y="2157984"/>
            <a:ext cx="137160" cy="292608"/>
          </a:xfrm>
          <a:prstGeom prst="rect">
            <a:avLst/>
          </a:prstGeom>
          <a:solidFill>
            <a:srgbClr val="C8501E"/>
          </a:solidFill>
          <a:ln w="3175">
            <a:solidFill>
              <a:srgbClr val="C8501E"/>
            </a:solidFill>
            <a:prstDash val="solid"/>
          </a:ln>
        </p:spPr>
      </p:sp>
      <p:sp>
        <p:nvSpPr>
          <p:cNvPr id="93" name="Ridge Regression 2000"/>
          <p:cNvSpPr/>
          <p:nvPr/>
        </p:nvSpPr>
        <p:spPr>
          <a:xfrm>
            <a:off x="3840480" y="2157984"/>
            <a:ext cx="137160" cy="292608"/>
          </a:xfrm>
          <a:prstGeom prst="rect">
            <a:avLst/>
          </a:prstGeom>
          <a:solidFill>
            <a:srgbClr val="C8501E"/>
          </a:solidFill>
          <a:ln w="3175">
            <a:solidFill>
              <a:srgbClr val="C8501E"/>
            </a:solidFill>
            <a:prstDash val="solid"/>
          </a:ln>
        </p:spPr>
      </p:sp>
      <p:sp>
        <p:nvSpPr>
          <p:cNvPr id="94" name="Ridge Regression 2001"/>
          <p:cNvSpPr/>
          <p:nvPr/>
        </p:nvSpPr>
        <p:spPr>
          <a:xfrm>
            <a:off x="3995928" y="2157984"/>
            <a:ext cx="137160" cy="292608"/>
          </a:xfrm>
          <a:prstGeom prst="rect">
            <a:avLst/>
          </a:prstGeom>
          <a:solidFill>
            <a:srgbClr val="D9D5CF"/>
          </a:solidFill>
          <a:ln w="3175">
            <a:solidFill>
              <a:srgbClr val="D9D5CF"/>
            </a:solidFill>
            <a:prstDash val="solid"/>
          </a:ln>
        </p:spPr>
      </p:sp>
      <p:sp>
        <p:nvSpPr>
          <p:cNvPr id="95" name="Ridge Regression 2002"/>
          <p:cNvSpPr/>
          <p:nvPr/>
        </p:nvSpPr>
        <p:spPr>
          <a:xfrm>
            <a:off x="4151376" y="2157984"/>
            <a:ext cx="137160" cy="292608"/>
          </a:xfrm>
          <a:prstGeom prst="rect">
            <a:avLst/>
          </a:prstGeom>
          <a:solidFill>
            <a:srgbClr val="C8501E"/>
          </a:solidFill>
          <a:ln w="3175">
            <a:solidFill>
              <a:srgbClr val="C8501E"/>
            </a:solidFill>
            <a:prstDash val="solid"/>
          </a:ln>
        </p:spPr>
      </p:sp>
      <p:sp>
        <p:nvSpPr>
          <p:cNvPr id="96" name="Ridge Regression 2003"/>
          <p:cNvSpPr/>
          <p:nvPr/>
        </p:nvSpPr>
        <p:spPr>
          <a:xfrm>
            <a:off x="4306824" y="2157984"/>
            <a:ext cx="137160" cy="292608"/>
          </a:xfrm>
          <a:prstGeom prst="rect">
            <a:avLst/>
          </a:prstGeom>
          <a:solidFill>
            <a:srgbClr val="C8501E"/>
          </a:solidFill>
          <a:ln w="3175">
            <a:solidFill>
              <a:srgbClr val="C8501E"/>
            </a:solidFill>
            <a:prstDash val="solid"/>
          </a:ln>
        </p:spPr>
      </p:sp>
      <p:sp>
        <p:nvSpPr>
          <p:cNvPr id="97" name="Ridge Regression 2004"/>
          <p:cNvSpPr/>
          <p:nvPr/>
        </p:nvSpPr>
        <p:spPr>
          <a:xfrm>
            <a:off x="4462272" y="2157984"/>
            <a:ext cx="137160" cy="292608"/>
          </a:xfrm>
          <a:prstGeom prst="rect">
            <a:avLst/>
          </a:prstGeom>
          <a:solidFill>
            <a:srgbClr val="C8501E"/>
          </a:solidFill>
          <a:ln w="3175">
            <a:solidFill>
              <a:srgbClr val="C8501E"/>
            </a:solidFill>
            <a:prstDash val="solid"/>
          </a:ln>
        </p:spPr>
      </p:sp>
      <p:sp>
        <p:nvSpPr>
          <p:cNvPr id="98" name="Ridge Regression 2005"/>
          <p:cNvSpPr/>
          <p:nvPr/>
        </p:nvSpPr>
        <p:spPr>
          <a:xfrm>
            <a:off x="4617720" y="2157984"/>
            <a:ext cx="137160" cy="292608"/>
          </a:xfrm>
          <a:prstGeom prst="rect">
            <a:avLst/>
          </a:prstGeom>
          <a:solidFill>
            <a:srgbClr val="D9D5CF"/>
          </a:solidFill>
          <a:ln w="3175">
            <a:solidFill>
              <a:srgbClr val="D9D5CF"/>
            </a:solidFill>
            <a:prstDash val="solid"/>
          </a:ln>
        </p:spPr>
      </p:sp>
      <p:sp>
        <p:nvSpPr>
          <p:cNvPr id="99" name="Ridge Regression 2006"/>
          <p:cNvSpPr/>
          <p:nvPr/>
        </p:nvSpPr>
        <p:spPr>
          <a:xfrm>
            <a:off x="4773168" y="2157984"/>
            <a:ext cx="137160" cy="292608"/>
          </a:xfrm>
          <a:prstGeom prst="rect">
            <a:avLst/>
          </a:prstGeom>
          <a:solidFill>
            <a:srgbClr val="D9D5CF"/>
          </a:solidFill>
          <a:ln w="3175">
            <a:solidFill>
              <a:srgbClr val="D9D5CF"/>
            </a:solidFill>
            <a:prstDash val="solid"/>
          </a:ln>
        </p:spPr>
      </p:sp>
      <p:sp>
        <p:nvSpPr>
          <p:cNvPr id="100" name="Ridge Regression 2007"/>
          <p:cNvSpPr/>
          <p:nvPr/>
        </p:nvSpPr>
        <p:spPr>
          <a:xfrm>
            <a:off x="4928616" y="2157984"/>
            <a:ext cx="137160" cy="292608"/>
          </a:xfrm>
          <a:prstGeom prst="rect">
            <a:avLst/>
          </a:prstGeom>
          <a:solidFill>
            <a:srgbClr val="C8501E"/>
          </a:solidFill>
          <a:ln w="3175">
            <a:solidFill>
              <a:srgbClr val="C8501E"/>
            </a:solidFill>
            <a:prstDash val="solid"/>
          </a:ln>
        </p:spPr>
      </p:sp>
      <p:sp>
        <p:nvSpPr>
          <p:cNvPr id="101" name="Ridge Regression 2008"/>
          <p:cNvSpPr/>
          <p:nvPr/>
        </p:nvSpPr>
        <p:spPr>
          <a:xfrm>
            <a:off x="5084064" y="2157984"/>
            <a:ext cx="137160" cy="292608"/>
          </a:xfrm>
          <a:prstGeom prst="rect">
            <a:avLst/>
          </a:prstGeom>
          <a:solidFill>
            <a:srgbClr val="D9D5CF"/>
          </a:solidFill>
          <a:ln w="3175">
            <a:solidFill>
              <a:srgbClr val="D9D5CF"/>
            </a:solidFill>
            <a:prstDash val="solid"/>
          </a:ln>
        </p:spPr>
      </p:sp>
      <p:sp>
        <p:nvSpPr>
          <p:cNvPr id="102" name="Ridge Regression 2009"/>
          <p:cNvSpPr/>
          <p:nvPr/>
        </p:nvSpPr>
        <p:spPr>
          <a:xfrm>
            <a:off x="5239512" y="2157984"/>
            <a:ext cx="137160" cy="292608"/>
          </a:xfrm>
          <a:prstGeom prst="rect">
            <a:avLst/>
          </a:prstGeom>
          <a:solidFill>
            <a:srgbClr val="C8501E"/>
          </a:solidFill>
          <a:ln w="3175">
            <a:solidFill>
              <a:srgbClr val="C8501E"/>
            </a:solidFill>
            <a:prstDash val="solid"/>
          </a:ln>
        </p:spPr>
      </p:sp>
      <p:sp>
        <p:nvSpPr>
          <p:cNvPr id="103" name="Ridge Regression 2010"/>
          <p:cNvSpPr/>
          <p:nvPr/>
        </p:nvSpPr>
        <p:spPr>
          <a:xfrm>
            <a:off x="5394960" y="2157984"/>
            <a:ext cx="137160" cy="292608"/>
          </a:xfrm>
          <a:prstGeom prst="rect">
            <a:avLst/>
          </a:prstGeom>
          <a:solidFill>
            <a:srgbClr val="C8501E"/>
          </a:solidFill>
          <a:ln w="3175">
            <a:solidFill>
              <a:srgbClr val="C8501E"/>
            </a:solidFill>
            <a:prstDash val="solid"/>
          </a:ln>
        </p:spPr>
      </p:sp>
      <p:sp>
        <p:nvSpPr>
          <p:cNvPr id="104" name="Ridge Regression 2011"/>
          <p:cNvSpPr/>
          <p:nvPr/>
        </p:nvSpPr>
        <p:spPr>
          <a:xfrm>
            <a:off x="5550408" y="2157984"/>
            <a:ext cx="137160" cy="292608"/>
          </a:xfrm>
          <a:prstGeom prst="rect">
            <a:avLst/>
          </a:prstGeom>
          <a:solidFill>
            <a:srgbClr val="D9D5CF"/>
          </a:solidFill>
          <a:ln w="3175">
            <a:solidFill>
              <a:srgbClr val="D9D5CF"/>
            </a:solidFill>
            <a:prstDash val="solid"/>
          </a:ln>
        </p:spPr>
      </p:sp>
      <p:sp>
        <p:nvSpPr>
          <p:cNvPr id="105" name="Ridge Regression 2012"/>
          <p:cNvSpPr/>
          <p:nvPr/>
        </p:nvSpPr>
        <p:spPr>
          <a:xfrm>
            <a:off x="5705856" y="2157984"/>
            <a:ext cx="137160" cy="292608"/>
          </a:xfrm>
          <a:prstGeom prst="rect">
            <a:avLst/>
          </a:prstGeom>
          <a:solidFill>
            <a:srgbClr val="C8501E"/>
          </a:solidFill>
          <a:ln w="3175">
            <a:solidFill>
              <a:srgbClr val="C8501E"/>
            </a:solidFill>
            <a:prstDash val="solid"/>
          </a:ln>
        </p:spPr>
      </p:sp>
      <p:sp>
        <p:nvSpPr>
          <p:cNvPr id="106" name="Ridge Regression 2013"/>
          <p:cNvSpPr/>
          <p:nvPr/>
        </p:nvSpPr>
        <p:spPr>
          <a:xfrm>
            <a:off x="5861304" y="2157984"/>
            <a:ext cx="137160" cy="292608"/>
          </a:xfrm>
          <a:prstGeom prst="rect">
            <a:avLst/>
          </a:prstGeom>
          <a:solidFill>
            <a:srgbClr val="C8501E"/>
          </a:solidFill>
          <a:ln w="3175">
            <a:solidFill>
              <a:srgbClr val="C8501E"/>
            </a:solidFill>
            <a:prstDash val="solid"/>
          </a:ln>
        </p:spPr>
      </p:sp>
      <p:sp>
        <p:nvSpPr>
          <p:cNvPr id="107" name="Ridge Regression 2014"/>
          <p:cNvSpPr/>
          <p:nvPr/>
        </p:nvSpPr>
        <p:spPr>
          <a:xfrm>
            <a:off x="6016752" y="2157984"/>
            <a:ext cx="137160" cy="292608"/>
          </a:xfrm>
          <a:prstGeom prst="rect">
            <a:avLst/>
          </a:prstGeom>
          <a:solidFill>
            <a:srgbClr val="C8501E"/>
          </a:solidFill>
          <a:ln w="3175">
            <a:solidFill>
              <a:srgbClr val="C8501E"/>
            </a:solidFill>
            <a:prstDash val="solid"/>
          </a:ln>
        </p:spPr>
      </p:sp>
      <p:sp>
        <p:nvSpPr>
          <p:cNvPr id="108" name="Ridge Regression 2015"/>
          <p:cNvSpPr/>
          <p:nvPr/>
        </p:nvSpPr>
        <p:spPr>
          <a:xfrm>
            <a:off x="6172200" y="2157984"/>
            <a:ext cx="137160" cy="292608"/>
          </a:xfrm>
          <a:prstGeom prst="rect">
            <a:avLst/>
          </a:prstGeom>
          <a:solidFill>
            <a:srgbClr val="D9D5CF"/>
          </a:solidFill>
          <a:ln w="3175">
            <a:solidFill>
              <a:srgbClr val="D9D5CF"/>
            </a:solidFill>
            <a:prstDash val="solid"/>
          </a:ln>
        </p:spPr>
      </p:sp>
      <p:sp>
        <p:nvSpPr>
          <p:cNvPr id="109" name="Ridge Regression 2016"/>
          <p:cNvSpPr/>
          <p:nvPr/>
        </p:nvSpPr>
        <p:spPr>
          <a:xfrm>
            <a:off x="6327648" y="2157984"/>
            <a:ext cx="137160" cy="292608"/>
          </a:xfrm>
          <a:prstGeom prst="rect">
            <a:avLst/>
          </a:prstGeom>
          <a:solidFill>
            <a:srgbClr val="C8501E"/>
          </a:solidFill>
          <a:ln w="3175">
            <a:solidFill>
              <a:srgbClr val="C8501E"/>
            </a:solidFill>
            <a:prstDash val="solid"/>
          </a:ln>
        </p:spPr>
      </p:sp>
      <p:sp>
        <p:nvSpPr>
          <p:cNvPr id="110" name="Ridge Regression 2017"/>
          <p:cNvSpPr/>
          <p:nvPr/>
        </p:nvSpPr>
        <p:spPr>
          <a:xfrm>
            <a:off x="6483096" y="2157984"/>
            <a:ext cx="137160" cy="292608"/>
          </a:xfrm>
          <a:prstGeom prst="rect">
            <a:avLst/>
          </a:prstGeom>
          <a:solidFill>
            <a:srgbClr val="C8501E"/>
          </a:solidFill>
          <a:ln w="3175">
            <a:solidFill>
              <a:srgbClr val="C8501E"/>
            </a:solidFill>
            <a:prstDash val="solid"/>
          </a:ln>
        </p:spPr>
      </p:sp>
      <p:sp>
        <p:nvSpPr>
          <p:cNvPr id="111" name="Ridge Regression 2018"/>
          <p:cNvSpPr/>
          <p:nvPr/>
        </p:nvSpPr>
        <p:spPr>
          <a:xfrm>
            <a:off x="6638544" y="2157984"/>
            <a:ext cx="137160" cy="292608"/>
          </a:xfrm>
          <a:prstGeom prst="rect">
            <a:avLst/>
          </a:prstGeom>
          <a:solidFill>
            <a:srgbClr val="C8501E"/>
          </a:solidFill>
          <a:ln w="3175">
            <a:solidFill>
              <a:srgbClr val="C8501E"/>
            </a:solidFill>
            <a:prstDash val="solid"/>
          </a:ln>
        </p:spPr>
      </p:sp>
      <p:sp>
        <p:nvSpPr>
          <p:cNvPr id="112" name="Ridge Regression 2019"/>
          <p:cNvSpPr/>
          <p:nvPr/>
        </p:nvSpPr>
        <p:spPr>
          <a:xfrm>
            <a:off x="6793992" y="2157984"/>
            <a:ext cx="137160" cy="292608"/>
          </a:xfrm>
          <a:prstGeom prst="rect">
            <a:avLst/>
          </a:prstGeom>
          <a:solidFill>
            <a:srgbClr val="D9D5CF"/>
          </a:solidFill>
          <a:ln w="3175">
            <a:solidFill>
              <a:srgbClr val="D9D5CF"/>
            </a:solidFill>
            <a:prstDash val="solid"/>
          </a:ln>
        </p:spPr>
      </p:sp>
      <p:sp>
        <p:nvSpPr>
          <p:cNvPr id="113" name="Ridge Regression 2020"/>
          <p:cNvSpPr/>
          <p:nvPr/>
        </p:nvSpPr>
        <p:spPr>
          <a:xfrm>
            <a:off x="6949440" y="2157984"/>
            <a:ext cx="137160" cy="292608"/>
          </a:xfrm>
          <a:prstGeom prst="rect">
            <a:avLst/>
          </a:prstGeom>
          <a:solidFill>
            <a:srgbClr val="C8501E"/>
          </a:solidFill>
          <a:ln w="3175">
            <a:solidFill>
              <a:srgbClr val="C8501E"/>
            </a:solidFill>
            <a:prstDash val="solid"/>
          </a:ln>
        </p:spPr>
      </p:sp>
      <p:sp>
        <p:nvSpPr>
          <p:cNvPr id="114" name="Ridge Regression 2021"/>
          <p:cNvSpPr/>
          <p:nvPr/>
        </p:nvSpPr>
        <p:spPr>
          <a:xfrm>
            <a:off x="7104888" y="2157984"/>
            <a:ext cx="137160" cy="292608"/>
          </a:xfrm>
          <a:prstGeom prst="rect">
            <a:avLst/>
          </a:prstGeom>
          <a:solidFill>
            <a:srgbClr val="C8501E"/>
          </a:solidFill>
          <a:ln w="3175">
            <a:solidFill>
              <a:srgbClr val="C8501E"/>
            </a:solidFill>
            <a:prstDash val="solid"/>
          </a:ln>
        </p:spPr>
      </p:sp>
      <p:sp>
        <p:nvSpPr>
          <p:cNvPr id="115" name="Ridge Regression 2022"/>
          <p:cNvSpPr/>
          <p:nvPr/>
        </p:nvSpPr>
        <p:spPr>
          <a:xfrm>
            <a:off x="7260336" y="2157984"/>
            <a:ext cx="137160" cy="292608"/>
          </a:xfrm>
          <a:prstGeom prst="rect">
            <a:avLst/>
          </a:prstGeom>
          <a:solidFill>
            <a:srgbClr val="C8501E"/>
          </a:solidFill>
          <a:ln w="3175">
            <a:solidFill>
              <a:srgbClr val="C8501E"/>
            </a:solidFill>
            <a:prstDash val="solid"/>
          </a:ln>
        </p:spPr>
      </p:sp>
      <p:sp>
        <p:nvSpPr>
          <p:cNvPr id="116" name="Ridge Regression 2023"/>
          <p:cNvSpPr/>
          <p:nvPr/>
        </p:nvSpPr>
        <p:spPr>
          <a:xfrm>
            <a:off x="7415784" y="2157984"/>
            <a:ext cx="137160" cy="292608"/>
          </a:xfrm>
          <a:prstGeom prst="rect">
            <a:avLst/>
          </a:prstGeom>
          <a:solidFill>
            <a:srgbClr val="D9D5CF"/>
          </a:solidFill>
          <a:ln w="3175">
            <a:solidFill>
              <a:srgbClr val="D9D5CF"/>
            </a:solidFill>
            <a:prstDash val="solid"/>
          </a:ln>
        </p:spPr>
      </p:sp>
      <p:sp>
        <p:nvSpPr>
          <p:cNvPr id="117" name="Ridge Regression 2024"/>
          <p:cNvSpPr/>
          <p:nvPr/>
        </p:nvSpPr>
        <p:spPr>
          <a:xfrm>
            <a:off x="7571232" y="2157984"/>
            <a:ext cx="137160" cy="292608"/>
          </a:xfrm>
          <a:prstGeom prst="rect">
            <a:avLst/>
          </a:prstGeom>
          <a:solidFill>
            <a:srgbClr val="C8501E"/>
          </a:solidFill>
          <a:ln w="3175">
            <a:solidFill>
              <a:srgbClr val="C8501E"/>
            </a:solidFill>
            <a:prstDash val="solid"/>
          </a:ln>
        </p:spPr>
      </p:sp>
      <p:sp>
        <p:nvSpPr>
          <p:cNvPr id="118" name="Ridge Regression 2025"/>
          <p:cNvSpPr/>
          <p:nvPr/>
        </p:nvSpPr>
        <p:spPr>
          <a:xfrm>
            <a:off x="7726680" y="2157984"/>
            <a:ext cx="137160" cy="292608"/>
          </a:xfrm>
          <a:prstGeom prst="rect">
            <a:avLst/>
          </a:prstGeom>
          <a:solidFill>
            <a:srgbClr val="C8501E"/>
          </a:solidFill>
          <a:ln w="3175">
            <a:solidFill>
              <a:srgbClr val="C8501E"/>
            </a:solidFill>
            <a:prstDash val="solid"/>
          </a:ln>
        </p:spPr>
      </p:sp>
      <p:sp>
        <p:nvSpPr>
          <p:cNvPr id="119" name="Row total Ridge Regression"/>
          <p:cNvSpPr txBox="1"/>
          <p:nvPr/>
        </p:nvSpPr>
        <p:spPr>
          <a:xfrm>
            <a:off x="7955280" y="2157984"/>
            <a:ext cx="548640" cy="292608"/>
          </a:xfrm>
          <a:prstGeom prst="rect">
            <a:avLst/>
          </a:prstGeom>
          <a:noFill/>
          <a:ln/>
        </p:spPr>
        <p:txBody>
          <a:bodyPr wrap="square" lIns="0" tIns="0" rIns="0" bIns="0" rtlCol="0" anchor="ctr"/>
          <a:lstStyle/>
          <a:p>
            <a:pPr indent="0" marL="0">
              <a:buNone/>
            </a:pPr>
            <a:r>
              <a:rPr lang="en-US" sz="1100" b="1" dirty="0">
                <a:solidFill>
                  <a:srgbClr val="1F2933"/>
                </a:solidFill>
              </a:rPr>
              <a:t>23/36</a:t>
            </a:r>
            <a:endParaRPr lang="en-US" sz="1100" dirty="0"/>
          </a:p>
        </p:txBody>
      </p:sp>
      <p:sp>
        <p:nvSpPr>
          <p:cNvPr id="120" name="Row label Win Shares-only Ridge"/>
          <p:cNvSpPr txBox="1"/>
          <p:nvPr/>
        </p:nvSpPr>
        <p:spPr>
          <a:xfrm>
            <a:off x="685800" y="2505456"/>
            <a:ext cx="1554480" cy="292608"/>
          </a:xfrm>
          <a:prstGeom prst="rect">
            <a:avLst/>
          </a:prstGeom>
          <a:noFill/>
          <a:ln/>
        </p:spPr>
        <p:txBody>
          <a:bodyPr wrap="square" lIns="0" tIns="0" rIns="0" bIns="0" rtlCol="0" anchor="ctr"/>
          <a:lstStyle/>
          <a:p>
            <a:pPr indent="0" marL="0">
              <a:buNone/>
            </a:pPr>
            <a:r>
              <a:rPr lang="en-US" sz="1100" dirty="0">
                <a:solidFill>
                  <a:srgbClr val="5F6B76"/>
                </a:solidFill>
              </a:rPr>
              <a:t>Win Shares-only Ridge</a:t>
            </a:r>
            <a:endParaRPr lang="en-US" sz="1100" dirty="0"/>
          </a:p>
        </p:txBody>
      </p:sp>
      <p:sp>
        <p:nvSpPr>
          <p:cNvPr id="121" name="Win Shares-only Ridge 1990"/>
          <p:cNvSpPr/>
          <p:nvPr/>
        </p:nvSpPr>
        <p:spPr>
          <a:xfrm>
            <a:off x="2286000" y="2505456"/>
            <a:ext cx="137160" cy="292608"/>
          </a:xfrm>
          <a:prstGeom prst="rect">
            <a:avLst/>
          </a:prstGeom>
          <a:solidFill>
            <a:srgbClr val="D9D5CF"/>
          </a:solidFill>
          <a:ln w="3175">
            <a:solidFill>
              <a:srgbClr val="D9D5CF"/>
            </a:solidFill>
            <a:prstDash val="solid"/>
          </a:ln>
        </p:spPr>
      </p:sp>
      <p:sp>
        <p:nvSpPr>
          <p:cNvPr id="122" name="Win Shares-only Ridge 1991"/>
          <p:cNvSpPr/>
          <p:nvPr/>
        </p:nvSpPr>
        <p:spPr>
          <a:xfrm>
            <a:off x="2441448" y="2505456"/>
            <a:ext cx="137160" cy="292608"/>
          </a:xfrm>
          <a:prstGeom prst="rect">
            <a:avLst/>
          </a:prstGeom>
          <a:solidFill>
            <a:srgbClr val="C8501E"/>
          </a:solidFill>
          <a:ln w="3175">
            <a:solidFill>
              <a:srgbClr val="C8501E"/>
            </a:solidFill>
            <a:prstDash val="solid"/>
          </a:ln>
        </p:spPr>
      </p:sp>
      <p:sp>
        <p:nvSpPr>
          <p:cNvPr id="123" name="Win Shares-only Ridge 1992"/>
          <p:cNvSpPr/>
          <p:nvPr/>
        </p:nvSpPr>
        <p:spPr>
          <a:xfrm>
            <a:off x="2596896" y="2505456"/>
            <a:ext cx="137160" cy="292608"/>
          </a:xfrm>
          <a:prstGeom prst="rect">
            <a:avLst/>
          </a:prstGeom>
          <a:solidFill>
            <a:srgbClr val="C8501E"/>
          </a:solidFill>
          <a:ln w="3175">
            <a:solidFill>
              <a:srgbClr val="C8501E"/>
            </a:solidFill>
            <a:prstDash val="solid"/>
          </a:ln>
        </p:spPr>
      </p:sp>
      <p:sp>
        <p:nvSpPr>
          <p:cNvPr id="124" name="Win Shares-only Ridge 1993"/>
          <p:cNvSpPr/>
          <p:nvPr/>
        </p:nvSpPr>
        <p:spPr>
          <a:xfrm>
            <a:off x="2752344" y="2505456"/>
            <a:ext cx="137160" cy="292608"/>
          </a:xfrm>
          <a:prstGeom prst="rect">
            <a:avLst/>
          </a:prstGeom>
          <a:solidFill>
            <a:srgbClr val="D9D5CF"/>
          </a:solidFill>
          <a:ln w="3175">
            <a:solidFill>
              <a:srgbClr val="D9D5CF"/>
            </a:solidFill>
            <a:prstDash val="solid"/>
          </a:ln>
        </p:spPr>
      </p:sp>
      <p:sp>
        <p:nvSpPr>
          <p:cNvPr id="125" name="Win Shares-only Ridge 1994"/>
          <p:cNvSpPr/>
          <p:nvPr/>
        </p:nvSpPr>
        <p:spPr>
          <a:xfrm>
            <a:off x="2907792" y="2505456"/>
            <a:ext cx="137160" cy="292608"/>
          </a:xfrm>
          <a:prstGeom prst="rect">
            <a:avLst/>
          </a:prstGeom>
          <a:solidFill>
            <a:srgbClr val="D9D5CF"/>
          </a:solidFill>
          <a:ln w="3175">
            <a:solidFill>
              <a:srgbClr val="D9D5CF"/>
            </a:solidFill>
            <a:prstDash val="solid"/>
          </a:ln>
        </p:spPr>
      </p:sp>
      <p:sp>
        <p:nvSpPr>
          <p:cNvPr id="126" name="Win Shares-only Ridge 1995"/>
          <p:cNvSpPr/>
          <p:nvPr/>
        </p:nvSpPr>
        <p:spPr>
          <a:xfrm>
            <a:off x="3063240" y="2505456"/>
            <a:ext cx="137160" cy="292608"/>
          </a:xfrm>
          <a:prstGeom prst="rect">
            <a:avLst/>
          </a:prstGeom>
          <a:solidFill>
            <a:srgbClr val="C8501E"/>
          </a:solidFill>
          <a:ln w="3175">
            <a:solidFill>
              <a:srgbClr val="C8501E"/>
            </a:solidFill>
            <a:prstDash val="solid"/>
          </a:ln>
        </p:spPr>
      </p:sp>
      <p:sp>
        <p:nvSpPr>
          <p:cNvPr id="127" name="Win Shares-only Ridge 1996"/>
          <p:cNvSpPr/>
          <p:nvPr/>
        </p:nvSpPr>
        <p:spPr>
          <a:xfrm>
            <a:off x="3218688" y="2505456"/>
            <a:ext cx="137160" cy="292608"/>
          </a:xfrm>
          <a:prstGeom prst="rect">
            <a:avLst/>
          </a:prstGeom>
          <a:solidFill>
            <a:srgbClr val="C8501E"/>
          </a:solidFill>
          <a:ln w="3175">
            <a:solidFill>
              <a:srgbClr val="C8501E"/>
            </a:solidFill>
            <a:prstDash val="solid"/>
          </a:ln>
        </p:spPr>
      </p:sp>
      <p:sp>
        <p:nvSpPr>
          <p:cNvPr id="128" name="Win Shares-only Ridge 1997"/>
          <p:cNvSpPr/>
          <p:nvPr/>
        </p:nvSpPr>
        <p:spPr>
          <a:xfrm>
            <a:off x="3374136" y="2505456"/>
            <a:ext cx="137160" cy="292608"/>
          </a:xfrm>
          <a:prstGeom prst="rect">
            <a:avLst/>
          </a:prstGeom>
          <a:solidFill>
            <a:srgbClr val="D9D5CF"/>
          </a:solidFill>
          <a:ln w="3175">
            <a:solidFill>
              <a:srgbClr val="D9D5CF"/>
            </a:solidFill>
            <a:prstDash val="solid"/>
          </a:ln>
        </p:spPr>
      </p:sp>
      <p:sp>
        <p:nvSpPr>
          <p:cNvPr id="129" name="Win Shares-only Ridge 1998"/>
          <p:cNvSpPr/>
          <p:nvPr/>
        </p:nvSpPr>
        <p:spPr>
          <a:xfrm>
            <a:off x="3529584" y="2505456"/>
            <a:ext cx="137160" cy="292608"/>
          </a:xfrm>
          <a:prstGeom prst="rect">
            <a:avLst/>
          </a:prstGeom>
          <a:solidFill>
            <a:srgbClr val="D9D5CF"/>
          </a:solidFill>
          <a:ln w="3175">
            <a:solidFill>
              <a:srgbClr val="D9D5CF"/>
            </a:solidFill>
            <a:prstDash val="solid"/>
          </a:ln>
        </p:spPr>
      </p:sp>
      <p:sp>
        <p:nvSpPr>
          <p:cNvPr id="130" name="Win Shares-only Ridge 1999"/>
          <p:cNvSpPr/>
          <p:nvPr/>
        </p:nvSpPr>
        <p:spPr>
          <a:xfrm>
            <a:off x="3685032" y="2505456"/>
            <a:ext cx="137160" cy="292608"/>
          </a:xfrm>
          <a:prstGeom prst="rect">
            <a:avLst/>
          </a:prstGeom>
          <a:solidFill>
            <a:srgbClr val="C8501E"/>
          </a:solidFill>
          <a:ln w="3175">
            <a:solidFill>
              <a:srgbClr val="C8501E"/>
            </a:solidFill>
            <a:prstDash val="solid"/>
          </a:ln>
        </p:spPr>
      </p:sp>
      <p:sp>
        <p:nvSpPr>
          <p:cNvPr id="131" name="Win Shares-only Ridge 2000"/>
          <p:cNvSpPr/>
          <p:nvPr/>
        </p:nvSpPr>
        <p:spPr>
          <a:xfrm>
            <a:off x="3840480" y="2505456"/>
            <a:ext cx="137160" cy="292608"/>
          </a:xfrm>
          <a:prstGeom prst="rect">
            <a:avLst/>
          </a:prstGeom>
          <a:solidFill>
            <a:srgbClr val="C8501E"/>
          </a:solidFill>
          <a:ln w="3175">
            <a:solidFill>
              <a:srgbClr val="C8501E"/>
            </a:solidFill>
            <a:prstDash val="solid"/>
          </a:ln>
        </p:spPr>
      </p:sp>
      <p:sp>
        <p:nvSpPr>
          <p:cNvPr id="132" name="Win Shares-only Ridge 2001"/>
          <p:cNvSpPr/>
          <p:nvPr/>
        </p:nvSpPr>
        <p:spPr>
          <a:xfrm>
            <a:off x="3995928" y="2505456"/>
            <a:ext cx="137160" cy="292608"/>
          </a:xfrm>
          <a:prstGeom prst="rect">
            <a:avLst/>
          </a:prstGeom>
          <a:solidFill>
            <a:srgbClr val="D9D5CF"/>
          </a:solidFill>
          <a:ln w="3175">
            <a:solidFill>
              <a:srgbClr val="D9D5CF"/>
            </a:solidFill>
            <a:prstDash val="solid"/>
          </a:ln>
        </p:spPr>
      </p:sp>
      <p:sp>
        <p:nvSpPr>
          <p:cNvPr id="133" name="Win Shares-only Ridge 2002"/>
          <p:cNvSpPr/>
          <p:nvPr/>
        </p:nvSpPr>
        <p:spPr>
          <a:xfrm>
            <a:off x="4151376" y="2505456"/>
            <a:ext cx="137160" cy="292608"/>
          </a:xfrm>
          <a:prstGeom prst="rect">
            <a:avLst/>
          </a:prstGeom>
          <a:solidFill>
            <a:srgbClr val="C8501E"/>
          </a:solidFill>
          <a:ln w="3175">
            <a:solidFill>
              <a:srgbClr val="C8501E"/>
            </a:solidFill>
            <a:prstDash val="solid"/>
          </a:ln>
        </p:spPr>
      </p:sp>
      <p:sp>
        <p:nvSpPr>
          <p:cNvPr id="134" name="Win Shares-only Ridge 2003"/>
          <p:cNvSpPr/>
          <p:nvPr/>
        </p:nvSpPr>
        <p:spPr>
          <a:xfrm>
            <a:off x="4306824" y="2505456"/>
            <a:ext cx="137160" cy="292608"/>
          </a:xfrm>
          <a:prstGeom prst="rect">
            <a:avLst/>
          </a:prstGeom>
          <a:solidFill>
            <a:srgbClr val="C8501E"/>
          </a:solidFill>
          <a:ln w="3175">
            <a:solidFill>
              <a:srgbClr val="C8501E"/>
            </a:solidFill>
            <a:prstDash val="solid"/>
          </a:ln>
        </p:spPr>
      </p:sp>
      <p:sp>
        <p:nvSpPr>
          <p:cNvPr id="135" name="Win Shares-only Ridge 2004"/>
          <p:cNvSpPr/>
          <p:nvPr/>
        </p:nvSpPr>
        <p:spPr>
          <a:xfrm>
            <a:off x="4462272" y="2505456"/>
            <a:ext cx="137160" cy="292608"/>
          </a:xfrm>
          <a:prstGeom prst="rect">
            <a:avLst/>
          </a:prstGeom>
          <a:solidFill>
            <a:srgbClr val="C8501E"/>
          </a:solidFill>
          <a:ln w="3175">
            <a:solidFill>
              <a:srgbClr val="C8501E"/>
            </a:solidFill>
            <a:prstDash val="solid"/>
          </a:ln>
        </p:spPr>
      </p:sp>
      <p:sp>
        <p:nvSpPr>
          <p:cNvPr id="136" name="Win Shares-only Ridge 2005"/>
          <p:cNvSpPr/>
          <p:nvPr/>
        </p:nvSpPr>
        <p:spPr>
          <a:xfrm>
            <a:off x="4617720" y="2505456"/>
            <a:ext cx="137160" cy="292608"/>
          </a:xfrm>
          <a:prstGeom prst="rect">
            <a:avLst/>
          </a:prstGeom>
          <a:solidFill>
            <a:srgbClr val="D9D5CF"/>
          </a:solidFill>
          <a:ln w="3175">
            <a:solidFill>
              <a:srgbClr val="D9D5CF"/>
            </a:solidFill>
            <a:prstDash val="solid"/>
          </a:ln>
        </p:spPr>
      </p:sp>
      <p:sp>
        <p:nvSpPr>
          <p:cNvPr id="137" name="Win Shares-only Ridge 2006"/>
          <p:cNvSpPr/>
          <p:nvPr/>
        </p:nvSpPr>
        <p:spPr>
          <a:xfrm>
            <a:off x="4773168" y="2505456"/>
            <a:ext cx="137160" cy="292608"/>
          </a:xfrm>
          <a:prstGeom prst="rect">
            <a:avLst/>
          </a:prstGeom>
          <a:solidFill>
            <a:srgbClr val="D9D5CF"/>
          </a:solidFill>
          <a:ln w="3175">
            <a:solidFill>
              <a:srgbClr val="D9D5CF"/>
            </a:solidFill>
            <a:prstDash val="solid"/>
          </a:ln>
        </p:spPr>
      </p:sp>
      <p:sp>
        <p:nvSpPr>
          <p:cNvPr id="138" name="Win Shares-only Ridge 2007"/>
          <p:cNvSpPr/>
          <p:nvPr/>
        </p:nvSpPr>
        <p:spPr>
          <a:xfrm>
            <a:off x="4928616" y="2505456"/>
            <a:ext cx="137160" cy="292608"/>
          </a:xfrm>
          <a:prstGeom prst="rect">
            <a:avLst/>
          </a:prstGeom>
          <a:solidFill>
            <a:srgbClr val="C8501E"/>
          </a:solidFill>
          <a:ln w="3175">
            <a:solidFill>
              <a:srgbClr val="C8501E"/>
            </a:solidFill>
            <a:prstDash val="solid"/>
          </a:ln>
        </p:spPr>
      </p:sp>
      <p:sp>
        <p:nvSpPr>
          <p:cNvPr id="139" name="Win Shares-only Ridge 2008"/>
          <p:cNvSpPr/>
          <p:nvPr/>
        </p:nvSpPr>
        <p:spPr>
          <a:xfrm>
            <a:off x="5084064" y="2505456"/>
            <a:ext cx="137160" cy="292608"/>
          </a:xfrm>
          <a:prstGeom prst="rect">
            <a:avLst/>
          </a:prstGeom>
          <a:solidFill>
            <a:srgbClr val="D9D5CF"/>
          </a:solidFill>
          <a:ln w="3175">
            <a:solidFill>
              <a:srgbClr val="D9D5CF"/>
            </a:solidFill>
            <a:prstDash val="solid"/>
          </a:ln>
        </p:spPr>
      </p:sp>
      <p:sp>
        <p:nvSpPr>
          <p:cNvPr id="140" name="Win Shares-only Ridge 2009"/>
          <p:cNvSpPr/>
          <p:nvPr/>
        </p:nvSpPr>
        <p:spPr>
          <a:xfrm>
            <a:off x="5239512" y="2505456"/>
            <a:ext cx="137160" cy="292608"/>
          </a:xfrm>
          <a:prstGeom prst="rect">
            <a:avLst/>
          </a:prstGeom>
          <a:solidFill>
            <a:srgbClr val="C8501E"/>
          </a:solidFill>
          <a:ln w="3175">
            <a:solidFill>
              <a:srgbClr val="C8501E"/>
            </a:solidFill>
            <a:prstDash val="solid"/>
          </a:ln>
        </p:spPr>
      </p:sp>
      <p:sp>
        <p:nvSpPr>
          <p:cNvPr id="141" name="Win Shares-only Ridge 2010"/>
          <p:cNvSpPr/>
          <p:nvPr/>
        </p:nvSpPr>
        <p:spPr>
          <a:xfrm>
            <a:off x="5394960" y="2505456"/>
            <a:ext cx="137160" cy="292608"/>
          </a:xfrm>
          <a:prstGeom prst="rect">
            <a:avLst/>
          </a:prstGeom>
          <a:solidFill>
            <a:srgbClr val="C8501E"/>
          </a:solidFill>
          <a:ln w="3175">
            <a:solidFill>
              <a:srgbClr val="C8501E"/>
            </a:solidFill>
            <a:prstDash val="solid"/>
          </a:ln>
        </p:spPr>
      </p:sp>
      <p:sp>
        <p:nvSpPr>
          <p:cNvPr id="142" name="Win Shares-only Ridge 2011"/>
          <p:cNvSpPr/>
          <p:nvPr/>
        </p:nvSpPr>
        <p:spPr>
          <a:xfrm>
            <a:off x="5550408" y="2505456"/>
            <a:ext cx="137160" cy="292608"/>
          </a:xfrm>
          <a:prstGeom prst="rect">
            <a:avLst/>
          </a:prstGeom>
          <a:solidFill>
            <a:srgbClr val="D9D5CF"/>
          </a:solidFill>
          <a:ln w="3175">
            <a:solidFill>
              <a:srgbClr val="D9D5CF"/>
            </a:solidFill>
            <a:prstDash val="solid"/>
          </a:ln>
        </p:spPr>
      </p:sp>
      <p:sp>
        <p:nvSpPr>
          <p:cNvPr id="143" name="Win Shares-only Ridge 2012"/>
          <p:cNvSpPr/>
          <p:nvPr/>
        </p:nvSpPr>
        <p:spPr>
          <a:xfrm>
            <a:off x="5705856" y="2505456"/>
            <a:ext cx="137160" cy="292608"/>
          </a:xfrm>
          <a:prstGeom prst="rect">
            <a:avLst/>
          </a:prstGeom>
          <a:solidFill>
            <a:srgbClr val="C8501E"/>
          </a:solidFill>
          <a:ln w="3175">
            <a:solidFill>
              <a:srgbClr val="C8501E"/>
            </a:solidFill>
            <a:prstDash val="solid"/>
          </a:ln>
        </p:spPr>
      </p:sp>
      <p:sp>
        <p:nvSpPr>
          <p:cNvPr id="144" name="Win Shares-only Ridge 2013"/>
          <p:cNvSpPr/>
          <p:nvPr/>
        </p:nvSpPr>
        <p:spPr>
          <a:xfrm>
            <a:off x="5861304" y="2505456"/>
            <a:ext cx="137160" cy="292608"/>
          </a:xfrm>
          <a:prstGeom prst="rect">
            <a:avLst/>
          </a:prstGeom>
          <a:solidFill>
            <a:srgbClr val="C8501E"/>
          </a:solidFill>
          <a:ln w="3175">
            <a:solidFill>
              <a:srgbClr val="C8501E"/>
            </a:solidFill>
            <a:prstDash val="solid"/>
          </a:ln>
        </p:spPr>
      </p:sp>
      <p:sp>
        <p:nvSpPr>
          <p:cNvPr id="145" name="Win Shares-only Ridge 2014"/>
          <p:cNvSpPr/>
          <p:nvPr/>
        </p:nvSpPr>
        <p:spPr>
          <a:xfrm>
            <a:off x="6016752" y="2505456"/>
            <a:ext cx="137160" cy="292608"/>
          </a:xfrm>
          <a:prstGeom prst="rect">
            <a:avLst/>
          </a:prstGeom>
          <a:solidFill>
            <a:srgbClr val="C8501E"/>
          </a:solidFill>
          <a:ln w="3175">
            <a:solidFill>
              <a:srgbClr val="C8501E"/>
            </a:solidFill>
            <a:prstDash val="solid"/>
          </a:ln>
        </p:spPr>
      </p:sp>
      <p:sp>
        <p:nvSpPr>
          <p:cNvPr id="146" name="Win Shares-only Ridge 2015"/>
          <p:cNvSpPr/>
          <p:nvPr/>
        </p:nvSpPr>
        <p:spPr>
          <a:xfrm>
            <a:off x="6172200" y="2505456"/>
            <a:ext cx="137160" cy="292608"/>
          </a:xfrm>
          <a:prstGeom prst="rect">
            <a:avLst/>
          </a:prstGeom>
          <a:solidFill>
            <a:srgbClr val="D9D5CF"/>
          </a:solidFill>
          <a:ln w="3175">
            <a:solidFill>
              <a:srgbClr val="D9D5CF"/>
            </a:solidFill>
            <a:prstDash val="solid"/>
          </a:ln>
        </p:spPr>
      </p:sp>
      <p:sp>
        <p:nvSpPr>
          <p:cNvPr id="147" name="Win Shares-only Ridge 2016"/>
          <p:cNvSpPr/>
          <p:nvPr/>
        </p:nvSpPr>
        <p:spPr>
          <a:xfrm>
            <a:off x="6327648" y="2505456"/>
            <a:ext cx="137160" cy="292608"/>
          </a:xfrm>
          <a:prstGeom prst="rect">
            <a:avLst/>
          </a:prstGeom>
          <a:solidFill>
            <a:srgbClr val="C8501E"/>
          </a:solidFill>
          <a:ln w="3175">
            <a:solidFill>
              <a:srgbClr val="C8501E"/>
            </a:solidFill>
            <a:prstDash val="solid"/>
          </a:ln>
        </p:spPr>
      </p:sp>
      <p:sp>
        <p:nvSpPr>
          <p:cNvPr id="148" name="Win Shares-only Ridge 2017"/>
          <p:cNvSpPr/>
          <p:nvPr/>
        </p:nvSpPr>
        <p:spPr>
          <a:xfrm>
            <a:off x="6483096" y="2505456"/>
            <a:ext cx="137160" cy="292608"/>
          </a:xfrm>
          <a:prstGeom prst="rect">
            <a:avLst/>
          </a:prstGeom>
          <a:solidFill>
            <a:srgbClr val="D9D5CF"/>
          </a:solidFill>
          <a:ln w="3175">
            <a:solidFill>
              <a:srgbClr val="D9D5CF"/>
            </a:solidFill>
            <a:prstDash val="solid"/>
          </a:ln>
        </p:spPr>
      </p:sp>
      <p:sp>
        <p:nvSpPr>
          <p:cNvPr id="149" name="Win Shares-only Ridge 2018"/>
          <p:cNvSpPr/>
          <p:nvPr/>
        </p:nvSpPr>
        <p:spPr>
          <a:xfrm>
            <a:off x="6638544" y="2505456"/>
            <a:ext cx="137160" cy="292608"/>
          </a:xfrm>
          <a:prstGeom prst="rect">
            <a:avLst/>
          </a:prstGeom>
          <a:solidFill>
            <a:srgbClr val="C8501E"/>
          </a:solidFill>
          <a:ln w="3175">
            <a:solidFill>
              <a:srgbClr val="C8501E"/>
            </a:solidFill>
            <a:prstDash val="solid"/>
          </a:ln>
        </p:spPr>
      </p:sp>
      <p:sp>
        <p:nvSpPr>
          <p:cNvPr id="150" name="Win Shares-only Ridge 2019"/>
          <p:cNvSpPr/>
          <p:nvPr/>
        </p:nvSpPr>
        <p:spPr>
          <a:xfrm>
            <a:off x="6793992" y="2505456"/>
            <a:ext cx="137160" cy="292608"/>
          </a:xfrm>
          <a:prstGeom prst="rect">
            <a:avLst/>
          </a:prstGeom>
          <a:solidFill>
            <a:srgbClr val="D9D5CF"/>
          </a:solidFill>
          <a:ln w="3175">
            <a:solidFill>
              <a:srgbClr val="D9D5CF"/>
            </a:solidFill>
            <a:prstDash val="solid"/>
          </a:ln>
        </p:spPr>
      </p:sp>
      <p:sp>
        <p:nvSpPr>
          <p:cNvPr id="151" name="Win Shares-only Ridge 2020"/>
          <p:cNvSpPr/>
          <p:nvPr/>
        </p:nvSpPr>
        <p:spPr>
          <a:xfrm>
            <a:off x="6949440" y="2505456"/>
            <a:ext cx="137160" cy="292608"/>
          </a:xfrm>
          <a:prstGeom prst="rect">
            <a:avLst/>
          </a:prstGeom>
          <a:solidFill>
            <a:srgbClr val="D9D5CF"/>
          </a:solidFill>
          <a:ln w="3175">
            <a:solidFill>
              <a:srgbClr val="D9D5CF"/>
            </a:solidFill>
            <a:prstDash val="solid"/>
          </a:ln>
        </p:spPr>
      </p:sp>
      <p:sp>
        <p:nvSpPr>
          <p:cNvPr id="152" name="Win Shares-only Ridge 2021"/>
          <p:cNvSpPr/>
          <p:nvPr/>
        </p:nvSpPr>
        <p:spPr>
          <a:xfrm>
            <a:off x="7104888" y="2505456"/>
            <a:ext cx="137160" cy="292608"/>
          </a:xfrm>
          <a:prstGeom prst="rect">
            <a:avLst/>
          </a:prstGeom>
          <a:solidFill>
            <a:srgbClr val="C8501E"/>
          </a:solidFill>
          <a:ln w="3175">
            <a:solidFill>
              <a:srgbClr val="C8501E"/>
            </a:solidFill>
            <a:prstDash val="solid"/>
          </a:ln>
        </p:spPr>
      </p:sp>
      <p:sp>
        <p:nvSpPr>
          <p:cNvPr id="153" name="Win Shares-only Ridge 2022"/>
          <p:cNvSpPr/>
          <p:nvPr/>
        </p:nvSpPr>
        <p:spPr>
          <a:xfrm>
            <a:off x="7260336" y="2505456"/>
            <a:ext cx="137160" cy="292608"/>
          </a:xfrm>
          <a:prstGeom prst="rect">
            <a:avLst/>
          </a:prstGeom>
          <a:solidFill>
            <a:srgbClr val="C8501E"/>
          </a:solidFill>
          <a:ln w="3175">
            <a:solidFill>
              <a:srgbClr val="C8501E"/>
            </a:solidFill>
            <a:prstDash val="solid"/>
          </a:ln>
        </p:spPr>
      </p:sp>
      <p:sp>
        <p:nvSpPr>
          <p:cNvPr id="154" name="Win Shares-only Ridge 2023"/>
          <p:cNvSpPr/>
          <p:nvPr/>
        </p:nvSpPr>
        <p:spPr>
          <a:xfrm>
            <a:off x="7415784" y="2505456"/>
            <a:ext cx="137160" cy="292608"/>
          </a:xfrm>
          <a:prstGeom prst="rect">
            <a:avLst/>
          </a:prstGeom>
          <a:solidFill>
            <a:srgbClr val="D9D5CF"/>
          </a:solidFill>
          <a:ln w="3175">
            <a:solidFill>
              <a:srgbClr val="D9D5CF"/>
            </a:solidFill>
            <a:prstDash val="solid"/>
          </a:ln>
        </p:spPr>
      </p:sp>
      <p:sp>
        <p:nvSpPr>
          <p:cNvPr id="155" name="Win Shares-only Ridge 2024"/>
          <p:cNvSpPr/>
          <p:nvPr/>
        </p:nvSpPr>
        <p:spPr>
          <a:xfrm>
            <a:off x="7571232" y="2505456"/>
            <a:ext cx="137160" cy="292608"/>
          </a:xfrm>
          <a:prstGeom prst="rect">
            <a:avLst/>
          </a:prstGeom>
          <a:solidFill>
            <a:srgbClr val="C8501E"/>
          </a:solidFill>
          <a:ln w="3175">
            <a:solidFill>
              <a:srgbClr val="C8501E"/>
            </a:solidFill>
            <a:prstDash val="solid"/>
          </a:ln>
        </p:spPr>
      </p:sp>
      <p:sp>
        <p:nvSpPr>
          <p:cNvPr id="156" name="Win Shares-only Ridge 2025"/>
          <p:cNvSpPr/>
          <p:nvPr/>
        </p:nvSpPr>
        <p:spPr>
          <a:xfrm>
            <a:off x="7726680" y="2505456"/>
            <a:ext cx="137160" cy="292608"/>
          </a:xfrm>
          <a:prstGeom prst="rect">
            <a:avLst/>
          </a:prstGeom>
          <a:solidFill>
            <a:srgbClr val="C8501E"/>
          </a:solidFill>
          <a:ln w="3175">
            <a:solidFill>
              <a:srgbClr val="C8501E"/>
            </a:solidFill>
            <a:prstDash val="solid"/>
          </a:ln>
        </p:spPr>
      </p:sp>
      <p:sp>
        <p:nvSpPr>
          <p:cNvPr id="157" name="Row total Win Shares-only Ridge"/>
          <p:cNvSpPr txBox="1"/>
          <p:nvPr/>
        </p:nvSpPr>
        <p:spPr>
          <a:xfrm>
            <a:off x="7955280" y="2505456"/>
            <a:ext cx="548640" cy="292608"/>
          </a:xfrm>
          <a:prstGeom prst="rect">
            <a:avLst/>
          </a:prstGeom>
          <a:noFill/>
          <a:ln/>
        </p:spPr>
        <p:txBody>
          <a:bodyPr wrap="square" lIns="0" tIns="0" rIns="0" bIns="0" rtlCol="0" anchor="ctr"/>
          <a:lstStyle/>
          <a:p>
            <a:pPr indent="0" marL="0">
              <a:buNone/>
            </a:pPr>
            <a:r>
              <a:rPr lang="en-US" sz="1100" b="1" dirty="0">
                <a:solidFill>
                  <a:srgbClr val="5F6B76"/>
                </a:solidFill>
              </a:rPr>
              <a:t>21/36</a:t>
            </a:r>
            <a:endParaRPr lang="en-US" sz="1100" dirty="0"/>
          </a:p>
        </p:txBody>
      </p:sp>
      <p:sp>
        <p:nvSpPr>
          <p:cNvPr id="158" name="Row label Prior-season share"/>
          <p:cNvSpPr txBox="1"/>
          <p:nvPr/>
        </p:nvSpPr>
        <p:spPr>
          <a:xfrm>
            <a:off x="685800" y="2852928"/>
            <a:ext cx="1554480" cy="292608"/>
          </a:xfrm>
          <a:prstGeom prst="rect">
            <a:avLst/>
          </a:prstGeom>
          <a:noFill/>
          <a:ln/>
        </p:spPr>
        <p:txBody>
          <a:bodyPr wrap="square" lIns="0" tIns="0" rIns="0" bIns="0" rtlCol="0" anchor="ctr"/>
          <a:lstStyle/>
          <a:p>
            <a:pPr indent="0" marL="0">
              <a:buNone/>
            </a:pPr>
            <a:r>
              <a:rPr lang="en-US" sz="1100" dirty="0">
                <a:solidFill>
                  <a:srgbClr val="5F6B76"/>
                </a:solidFill>
              </a:rPr>
              <a:t>Prior-season share</a:t>
            </a:r>
            <a:endParaRPr lang="en-US" sz="1100" dirty="0"/>
          </a:p>
        </p:txBody>
      </p:sp>
      <p:sp>
        <p:nvSpPr>
          <p:cNvPr id="159" name="Prior-season share 1990"/>
          <p:cNvSpPr/>
          <p:nvPr/>
        </p:nvSpPr>
        <p:spPr>
          <a:xfrm>
            <a:off x="2286000" y="2852928"/>
            <a:ext cx="137160" cy="292608"/>
          </a:xfrm>
          <a:prstGeom prst="rect">
            <a:avLst/>
          </a:prstGeom>
          <a:solidFill>
            <a:srgbClr val="C8501E"/>
          </a:solidFill>
          <a:ln w="3175">
            <a:solidFill>
              <a:srgbClr val="C8501E"/>
            </a:solidFill>
            <a:prstDash val="solid"/>
          </a:ln>
        </p:spPr>
      </p:sp>
      <p:sp>
        <p:nvSpPr>
          <p:cNvPr id="160" name="Prior-season share 1991"/>
          <p:cNvSpPr/>
          <p:nvPr/>
        </p:nvSpPr>
        <p:spPr>
          <a:xfrm>
            <a:off x="2441448" y="2852928"/>
            <a:ext cx="137160" cy="292608"/>
          </a:xfrm>
          <a:prstGeom prst="rect">
            <a:avLst/>
          </a:prstGeom>
          <a:solidFill>
            <a:srgbClr val="D9D5CF"/>
          </a:solidFill>
          <a:ln w="3175">
            <a:solidFill>
              <a:srgbClr val="D9D5CF"/>
            </a:solidFill>
            <a:prstDash val="solid"/>
          </a:ln>
        </p:spPr>
      </p:sp>
      <p:sp>
        <p:nvSpPr>
          <p:cNvPr id="161" name="Prior-season share 1992"/>
          <p:cNvSpPr/>
          <p:nvPr/>
        </p:nvSpPr>
        <p:spPr>
          <a:xfrm>
            <a:off x="2596896" y="2852928"/>
            <a:ext cx="137160" cy="292608"/>
          </a:xfrm>
          <a:prstGeom prst="rect">
            <a:avLst/>
          </a:prstGeom>
          <a:solidFill>
            <a:srgbClr val="C8501E"/>
          </a:solidFill>
          <a:ln w="3175">
            <a:solidFill>
              <a:srgbClr val="C8501E"/>
            </a:solidFill>
            <a:prstDash val="solid"/>
          </a:ln>
        </p:spPr>
      </p:sp>
      <p:sp>
        <p:nvSpPr>
          <p:cNvPr id="162" name="Prior-season share 1993"/>
          <p:cNvSpPr/>
          <p:nvPr/>
        </p:nvSpPr>
        <p:spPr>
          <a:xfrm>
            <a:off x="2752344" y="2852928"/>
            <a:ext cx="137160" cy="292608"/>
          </a:xfrm>
          <a:prstGeom prst="rect">
            <a:avLst/>
          </a:prstGeom>
          <a:solidFill>
            <a:srgbClr val="D9D5CF"/>
          </a:solidFill>
          <a:ln w="3175">
            <a:solidFill>
              <a:srgbClr val="D9D5CF"/>
            </a:solidFill>
            <a:prstDash val="solid"/>
          </a:ln>
        </p:spPr>
      </p:sp>
      <p:sp>
        <p:nvSpPr>
          <p:cNvPr id="163" name="Prior-season share 1994"/>
          <p:cNvSpPr/>
          <p:nvPr/>
        </p:nvSpPr>
        <p:spPr>
          <a:xfrm>
            <a:off x="2907792" y="2852928"/>
            <a:ext cx="137160" cy="292608"/>
          </a:xfrm>
          <a:prstGeom prst="rect">
            <a:avLst/>
          </a:prstGeom>
          <a:solidFill>
            <a:srgbClr val="D9D5CF"/>
          </a:solidFill>
          <a:ln w="3175">
            <a:solidFill>
              <a:srgbClr val="D9D5CF"/>
            </a:solidFill>
            <a:prstDash val="solid"/>
          </a:ln>
        </p:spPr>
      </p:sp>
      <p:sp>
        <p:nvSpPr>
          <p:cNvPr id="164" name="Prior-season share 1995"/>
          <p:cNvSpPr/>
          <p:nvPr/>
        </p:nvSpPr>
        <p:spPr>
          <a:xfrm>
            <a:off x="3063240" y="2852928"/>
            <a:ext cx="137160" cy="292608"/>
          </a:xfrm>
          <a:prstGeom prst="rect">
            <a:avLst/>
          </a:prstGeom>
          <a:solidFill>
            <a:srgbClr val="D9D5CF"/>
          </a:solidFill>
          <a:ln w="3175">
            <a:solidFill>
              <a:srgbClr val="D9D5CF"/>
            </a:solidFill>
            <a:prstDash val="solid"/>
          </a:ln>
        </p:spPr>
      </p:sp>
      <p:sp>
        <p:nvSpPr>
          <p:cNvPr id="165" name="Prior-season share 1996"/>
          <p:cNvSpPr/>
          <p:nvPr/>
        </p:nvSpPr>
        <p:spPr>
          <a:xfrm>
            <a:off x="3218688" y="2852928"/>
            <a:ext cx="137160" cy="292608"/>
          </a:xfrm>
          <a:prstGeom prst="rect">
            <a:avLst/>
          </a:prstGeom>
          <a:solidFill>
            <a:srgbClr val="D9D5CF"/>
          </a:solidFill>
          <a:ln w="3175">
            <a:solidFill>
              <a:srgbClr val="D9D5CF"/>
            </a:solidFill>
            <a:prstDash val="solid"/>
          </a:ln>
        </p:spPr>
      </p:sp>
      <p:sp>
        <p:nvSpPr>
          <p:cNvPr id="166" name="Prior-season share 1997"/>
          <p:cNvSpPr/>
          <p:nvPr/>
        </p:nvSpPr>
        <p:spPr>
          <a:xfrm>
            <a:off x="3374136" y="2852928"/>
            <a:ext cx="137160" cy="292608"/>
          </a:xfrm>
          <a:prstGeom prst="rect">
            <a:avLst/>
          </a:prstGeom>
          <a:solidFill>
            <a:srgbClr val="D9D5CF"/>
          </a:solidFill>
          <a:ln w="3175">
            <a:solidFill>
              <a:srgbClr val="D9D5CF"/>
            </a:solidFill>
            <a:prstDash val="solid"/>
          </a:ln>
        </p:spPr>
      </p:sp>
      <p:sp>
        <p:nvSpPr>
          <p:cNvPr id="167" name="Prior-season share 1998"/>
          <p:cNvSpPr/>
          <p:nvPr/>
        </p:nvSpPr>
        <p:spPr>
          <a:xfrm>
            <a:off x="3529584" y="2852928"/>
            <a:ext cx="137160" cy="292608"/>
          </a:xfrm>
          <a:prstGeom prst="rect">
            <a:avLst/>
          </a:prstGeom>
          <a:solidFill>
            <a:srgbClr val="D9D5CF"/>
          </a:solidFill>
          <a:ln w="3175">
            <a:solidFill>
              <a:srgbClr val="D9D5CF"/>
            </a:solidFill>
            <a:prstDash val="solid"/>
          </a:ln>
        </p:spPr>
      </p:sp>
      <p:sp>
        <p:nvSpPr>
          <p:cNvPr id="168" name="Prior-season share 1999"/>
          <p:cNvSpPr/>
          <p:nvPr/>
        </p:nvSpPr>
        <p:spPr>
          <a:xfrm>
            <a:off x="3685032" y="2852928"/>
            <a:ext cx="137160" cy="292608"/>
          </a:xfrm>
          <a:prstGeom prst="rect">
            <a:avLst/>
          </a:prstGeom>
          <a:solidFill>
            <a:srgbClr val="C8501E"/>
          </a:solidFill>
          <a:ln w="3175">
            <a:solidFill>
              <a:srgbClr val="C8501E"/>
            </a:solidFill>
            <a:prstDash val="solid"/>
          </a:ln>
        </p:spPr>
      </p:sp>
      <p:sp>
        <p:nvSpPr>
          <p:cNvPr id="169" name="Prior-season share 2000"/>
          <p:cNvSpPr/>
          <p:nvPr/>
        </p:nvSpPr>
        <p:spPr>
          <a:xfrm>
            <a:off x="3840480" y="2852928"/>
            <a:ext cx="137160" cy="292608"/>
          </a:xfrm>
          <a:prstGeom prst="rect">
            <a:avLst/>
          </a:prstGeom>
          <a:solidFill>
            <a:srgbClr val="D9D5CF"/>
          </a:solidFill>
          <a:ln w="3175">
            <a:solidFill>
              <a:srgbClr val="D9D5CF"/>
            </a:solidFill>
            <a:prstDash val="solid"/>
          </a:ln>
        </p:spPr>
      </p:sp>
      <p:sp>
        <p:nvSpPr>
          <p:cNvPr id="170" name="Prior-season share 2001"/>
          <p:cNvSpPr/>
          <p:nvPr/>
        </p:nvSpPr>
        <p:spPr>
          <a:xfrm>
            <a:off x="3995928" y="2852928"/>
            <a:ext cx="137160" cy="292608"/>
          </a:xfrm>
          <a:prstGeom prst="rect">
            <a:avLst/>
          </a:prstGeom>
          <a:solidFill>
            <a:srgbClr val="D9D5CF"/>
          </a:solidFill>
          <a:ln w="3175">
            <a:solidFill>
              <a:srgbClr val="D9D5CF"/>
            </a:solidFill>
            <a:prstDash val="solid"/>
          </a:ln>
        </p:spPr>
      </p:sp>
      <p:sp>
        <p:nvSpPr>
          <p:cNvPr id="171" name="Prior-season share 2002"/>
          <p:cNvSpPr/>
          <p:nvPr/>
        </p:nvSpPr>
        <p:spPr>
          <a:xfrm>
            <a:off x="4151376" y="2852928"/>
            <a:ext cx="137160" cy="292608"/>
          </a:xfrm>
          <a:prstGeom prst="rect">
            <a:avLst/>
          </a:prstGeom>
          <a:solidFill>
            <a:srgbClr val="D9D5CF"/>
          </a:solidFill>
          <a:ln w="3175">
            <a:solidFill>
              <a:srgbClr val="D9D5CF"/>
            </a:solidFill>
            <a:prstDash val="solid"/>
          </a:ln>
        </p:spPr>
      </p:sp>
      <p:sp>
        <p:nvSpPr>
          <p:cNvPr id="172" name="Prior-season share 2003"/>
          <p:cNvSpPr/>
          <p:nvPr/>
        </p:nvSpPr>
        <p:spPr>
          <a:xfrm>
            <a:off x="4306824" y="2852928"/>
            <a:ext cx="137160" cy="292608"/>
          </a:xfrm>
          <a:prstGeom prst="rect">
            <a:avLst/>
          </a:prstGeom>
          <a:solidFill>
            <a:srgbClr val="C8501E"/>
          </a:solidFill>
          <a:ln w="3175">
            <a:solidFill>
              <a:srgbClr val="C8501E"/>
            </a:solidFill>
            <a:prstDash val="solid"/>
          </a:ln>
        </p:spPr>
      </p:sp>
      <p:sp>
        <p:nvSpPr>
          <p:cNvPr id="173" name="Prior-season share 2004"/>
          <p:cNvSpPr/>
          <p:nvPr/>
        </p:nvSpPr>
        <p:spPr>
          <a:xfrm>
            <a:off x="4462272" y="2852928"/>
            <a:ext cx="137160" cy="292608"/>
          </a:xfrm>
          <a:prstGeom prst="rect">
            <a:avLst/>
          </a:prstGeom>
          <a:solidFill>
            <a:srgbClr val="D9D5CF"/>
          </a:solidFill>
          <a:ln w="3175">
            <a:solidFill>
              <a:srgbClr val="D9D5CF"/>
            </a:solidFill>
            <a:prstDash val="solid"/>
          </a:ln>
        </p:spPr>
      </p:sp>
      <p:sp>
        <p:nvSpPr>
          <p:cNvPr id="174" name="Prior-season share 2005"/>
          <p:cNvSpPr/>
          <p:nvPr/>
        </p:nvSpPr>
        <p:spPr>
          <a:xfrm>
            <a:off x="4617720" y="2852928"/>
            <a:ext cx="137160" cy="292608"/>
          </a:xfrm>
          <a:prstGeom prst="rect">
            <a:avLst/>
          </a:prstGeom>
          <a:solidFill>
            <a:srgbClr val="D9D5CF"/>
          </a:solidFill>
          <a:ln w="3175">
            <a:solidFill>
              <a:srgbClr val="D9D5CF"/>
            </a:solidFill>
            <a:prstDash val="solid"/>
          </a:ln>
        </p:spPr>
      </p:sp>
      <p:sp>
        <p:nvSpPr>
          <p:cNvPr id="175" name="Prior-season share 2006"/>
          <p:cNvSpPr/>
          <p:nvPr/>
        </p:nvSpPr>
        <p:spPr>
          <a:xfrm>
            <a:off x="4773168" y="2852928"/>
            <a:ext cx="137160" cy="292608"/>
          </a:xfrm>
          <a:prstGeom prst="rect">
            <a:avLst/>
          </a:prstGeom>
          <a:solidFill>
            <a:srgbClr val="C8501E"/>
          </a:solidFill>
          <a:ln w="3175">
            <a:solidFill>
              <a:srgbClr val="C8501E"/>
            </a:solidFill>
            <a:prstDash val="solid"/>
          </a:ln>
        </p:spPr>
      </p:sp>
      <p:sp>
        <p:nvSpPr>
          <p:cNvPr id="176" name="Prior-season share 2007"/>
          <p:cNvSpPr/>
          <p:nvPr/>
        </p:nvSpPr>
        <p:spPr>
          <a:xfrm>
            <a:off x="4928616" y="2852928"/>
            <a:ext cx="137160" cy="292608"/>
          </a:xfrm>
          <a:prstGeom prst="rect">
            <a:avLst/>
          </a:prstGeom>
          <a:solidFill>
            <a:srgbClr val="D9D5CF"/>
          </a:solidFill>
          <a:ln w="3175">
            <a:solidFill>
              <a:srgbClr val="D9D5CF"/>
            </a:solidFill>
            <a:prstDash val="solid"/>
          </a:ln>
        </p:spPr>
      </p:sp>
      <p:sp>
        <p:nvSpPr>
          <p:cNvPr id="177" name="Prior-season share 2008"/>
          <p:cNvSpPr/>
          <p:nvPr/>
        </p:nvSpPr>
        <p:spPr>
          <a:xfrm>
            <a:off x="5084064" y="2852928"/>
            <a:ext cx="137160" cy="292608"/>
          </a:xfrm>
          <a:prstGeom prst="rect">
            <a:avLst/>
          </a:prstGeom>
          <a:solidFill>
            <a:srgbClr val="D9D5CF"/>
          </a:solidFill>
          <a:ln w="3175">
            <a:solidFill>
              <a:srgbClr val="D9D5CF"/>
            </a:solidFill>
            <a:prstDash val="solid"/>
          </a:ln>
        </p:spPr>
      </p:sp>
      <p:sp>
        <p:nvSpPr>
          <p:cNvPr id="178" name="Prior-season share 2009"/>
          <p:cNvSpPr/>
          <p:nvPr/>
        </p:nvSpPr>
        <p:spPr>
          <a:xfrm>
            <a:off x="5239512" y="2852928"/>
            <a:ext cx="137160" cy="292608"/>
          </a:xfrm>
          <a:prstGeom prst="rect">
            <a:avLst/>
          </a:prstGeom>
          <a:solidFill>
            <a:srgbClr val="D9D5CF"/>
          </a:solidFill>
          <a:ln w="3175">
            <a:solidFill>
              <a:srgbClr val="D9D5CF"/>
            </a:solidFill>
            <a:prstDash val="solid"/>
          </a:ln>
        </p:spPr>
      </p:sp>
      <p:sp>
        <p:nvSpPr>
          <p:cNvPr id="179" name="Prior-season share 2010"/>
          <p:cNvSpPr/>
          <p:nvPr/>
        </p:nvSpPr>
        <p:spPr>
          <a:xfrm>
            <a:off x="5394960" y="2852928"/>
            <a:ext cx="137160" cy="292608"/>
          </a:xfrm>
          <a:prstGeom prst="rect">
            <a:avLst/>
          </a:prstGeom>
          <a:solidFill>
            <a:srgbClr val="C8501E"/>
          </a:solidFill>
          <a:ln w="3175">
            <a:solidFill>
              <a:srgbClr val="C8501E"/>
            </a:solidFill>
            <a:prstDash val="solid"/>
          </a:ln>
        </p:spPr>
      </p:sp>
      <p:sp>
        <p:nvSpPr>
          <p:cNvPr id="180" name="Prior-season share 2011"/>
          <p:cNvSpPr/>
          <p:nvPr/>
        </p:nvSpPr>
        <p:spPr>
          <a:xfrm>
            <a:off x="5550408" y="2852928"/>
            <a:ext cx="137160" cy="292608"/>
          </a:xfrm>
          <a:prstGeom prst="rect">
            <a:avLst/>
          </a:prstGeom>
          <a:solidFill>
            <a:srgbClr val="D9D5CF"/>
          </a:solidFill>
          <a:ln w="3175">
            <a:solidFill>
              <a:srgbClr val="D9D5CF"/>
            </a:solidFill>
            <a:prstDash val="solid"/>
          </a:ln>
        </p:spPr>
      </p:sp>
      <p:sp>
        <p:nvSpPr>
          <p:cNvPr id="181" name="Prior-season share 2012"/>
          <p:cNvSpPr/>
          <p:nvPr/>
        </p:nvSpPr>
        <p:spPr>
          <a:xfrm>
            <a:off x="5705856" y="2852928"/>
            <a:ext cx="137160" cy="292608"/>
          </a:xfrm>
          <a:prstGeom prst="rect">
            <a:avLst/>
          </a:prstGeom>
          <a:solidFill>
            <a:srgbClr val="D9D5CF"/>
          </a:solidFill>
          <a:ln w="3175">
            <a:solidFill>
              <a:srgbClr val="D9D5CF"/>
            </a:solidFill>
            <a:prstDash val="solid"/>
          </a:ln>
        </p:spPr>
      </p:sp>
      <p:sp>
        <p:nvSpPr>
          <p:cNvPr id="182" name="Prior-season share 2013"/>
          <p:cNvSpPr/>
          <p:nvPr/>
        </p:nvSpPr>
        <p:spPr>
          <a:xfrm>
            <a:off x="5861304" y="2852928"/>
            <a:ext cx="137160" cy="292608"/>
          </a:xfrm>
          <a:prstGeom prst="rect">
            <a:avLst/>
          </a:prstGeom>
          <a:solidFill>
            <a:srgbClr val="C8501E"/>
          </a:solidFill>
          <a:ln w="3175">
            <a:solidFill>
              <a:srgbClr val="C8501E"/>
            </a:solidFill>
            <a:prstDash val="solid"/>
          </a:ln>
        </p:spPr>
      </p:sp>
      <p:sp>
        <p:nvSpPr>
          <p:cNvPr id="183" name="Prior-season share 2014"/>
          <p:cNvSpPr/>
          <p:nvPr/>
        </p:nvSpPr>
        <p:spPr>
          <a:xfrm>
            <a:off x="6016752" y="2852928"/>
            <a:ext cx="137160" cy="292608"/>
          </a:xfrm>
          <a:prstGeom prst="rect">
            <a:avLst/>
          </a:prstGeom>
          <a:solidFill>
            <a:srgbClr val="D9D5CF"/>
          </a:solidFill>
          <a:ln w="3175">
            <a:solidFill>
              <a:srgbClr val="D9D5CF"/>
            </a:solidFill>
            <a:prstDash val="solid"/>
          </a:ln>
        </p:spPr>
      </p:sp>
      <p:sp>
        <p:nvSpPr>
          <p:cNvPr id="184" name="Prior-season share 2015"/>
          <p:cNvSpPr/>
          <p:nvPr/>
        </p:nvSpPr>
        <p:spPr>
          <a:xfrm>
            <a:off x="6172200" y="2852928"/>
            <a:ext cx="137160" cy="292608"/>
          </a:xfrm>
          <a:prstGeom prst="rect">
            <a:avLst/>
          </a:prstGeom>
          <a:solidFill>
            <a:srgbClr val="D9D5CF"/>
          </a:solidFill>
          <a:ln w="3175">
            <a:solidFill>
              <a:srgbClr val="D9D5CF"/>
            </a:solidFill>
            <a:prstDash val="solid"/>
          </a:ln>
        </p:spPr>
      </p:sp>
      <p:sp>
        <p:nvSpPr>
          <p:cNvPr id="185" name="Prior-season share 2016"/>
          <p:cNvSpPr/>
          <p:nvPr/>
        </p:nvSpPr>
        <p:spPr>
          <a:xfrm>
            <a:off x="6327648" y="2852928"/>
            <a:ext cx="137160" cy="292608"/>
          </a:xfrm>
          <a:prstGeom prst="rect">
            <a:avLst/>
          </a:prstGeom>
          <a:solidFill>
            <a:srgbClr val="D9D5CF"/>
          </a:solidFill>
          <a:ln w="3175">
            <a:solidFill>
              <a:srgbClr val="D9D5CF"/>
            </a:solidFill>
            <a:prstDash val="solid"/>
          </a:ln>
        </p:spPr>
      </p:sp>
      <p:sp>
        <p:nvSpPr>
          <p:cNvPr id="186" name="Prior-season share 2017"/>
          <p:cNvSpPr/>
          <p:nvPr/>
        </p:nvSpPr>
        <p:spPr>
          <a:xfrm>
            <a:off x="6483096" y="2852928"/>
            <a:ext cx="137160" cy="292608"/>
          </a:xfrm>
          <a:prstGeom prst="rect">
            <a:avLst/>
          </a:prstGeom>
          <a:solidFill>
            <a:srgbClr val="D9D5CF"/>
          </a:solidFill>
          <a:ln w="3175">
            <a:solidFill>
              <a:srgbClr val="D9D5CF"/>
            </a:solidFill>
            <a:prstDash val="solid"/>
          </a:ln>
        </p:spPr>
      </p:sp>
      <p:sp>
        <p:nvSpPr>
          <p:cNvPr id="187" name="Prior-season share 2018"/>
          <p:cNvSpPr/>
          <p:nvPr/>
        </p:nvSpPr>
        <p:spPr>
          <a:xfrm>
            <a:off x="6638544" y="2852928"/>
            <a:ext cx="137160" cy="292608"/>
          </a:xfrm>
          <a:prstGeom prst="rect">
            <a:avLst/>
          </a:prstGeom>
          <a:solidFill>
            <a:srgbClr val="D9D5CF"/>
          </a:solidFill>
          <a:ln w="3175">
            <a:solidFill>
              <a:srgbClr val="D9D5CF"/>
            </a:solidFill>
            <a:prstDash val="solid"/>
          </a:ln>
        </p:spPr>
      </p:sp>
      <p:sp>
        <p:nvSpPr>
          <p:cNvPr id="188" name="Prior-season share 2019"/>
          <p:cNvSpPr/>
          <p:nvPr/>
        </p:nvSpPr>
        <p:spPr>
          <a:xfrm>
            <a:off x="6793992" y="2852928"/>
            <a:ext cx="137160" cy="292608"/>
          </a:xfrm>
          <a:prstGeom prst="rect">
            <a:avLst/>
          </a:prstGeom>
          <a:solidFill>
            <a:srgbClr val="D9D5CF"/>
          </a:solidFill>
          <a:ln w="3175">
            <a:solidFill>
              <a:srgbClr val="D9D5CF"/>
            </a:solidFill>
            <a:prstDash val="solid"/>
          </a:ln>
        </p:spPr>
      </p:sp>
      <p:sp>
        <p:nvSpPr>
          <p:cNvPr id="189" name="Prior-season share 2020"/>
          <p:cNvSpPr/>
          <p:nvPr/>
        </p:nvSpPr>
        <p:spPr>
          <a:xfrm>
            <a:off x="6949440" y="2852928"/>
            <a:ext cx="137160" cy="292608"/>
          </a:xfrm>
          <a:prstGeom prst="rect">
            <a:avLst/>
          </a:prstGeom>
          <a:solidFill>
            <a:srgbClr val="C8501E"/>
          </a:solidFill>
          <a:ln w="3175">
            <a:solidFill>
              <a:srgbClr val="C8501E"/>
            </a:solidFill>
            <a:prstDash val="solid"/>
          </a:ln>
        </p:spPr>
      </p:sp>
      <p:sp>
        <p:nvSpPr>
          <p:cNvPr id="190" name="Prior-season share 2021"/>
          <p:cNvSpPr/>
          <p:nvPr/>
        </p:nvSpPr>
        <p:spPr>
          <a:xfrm>
            <a:off x="7104888" y="2852928"/>
            <a:ext cx="137160" cy="292608"/>
          </a:xfrm>
          <a:prstGeom prst="rect">
            <a:avLst/>
          </a:prstGeom>
          <a:solidFill>
            <a:srgbClr val="D9D5CF"/>
          </a:solidFill>
          <a:ln w="3175">
            <a:solidFill>
              <a:srgbClr val="D9D5CF"/>
            </a:solidFill>
            <a:prstDash val="solid"/>
          </a:ln>
        </p:spPr>
      </p:sp>
      <p:sp>
        <p:nvSpPr>
          <p:cNvPr id="191" name="Prior-season share 2022"/>
          <p:cNvSpPr/>
          <p:nvPr/>
        </p:nvSpPr>
        <p:spPr>
          <a:xfrm>
            <a:off x="7260336" y="2852928"/>
            <a:ext cx="137160" cy="292608"/>
          </a:xfrm>
          <a:prstGeom prst="rect">
            <a:avLst/>
          </a:prstGeom>
          <a:solidFill>
            <a:srgbClr val="C8501E"/>
          </a:solidFill>
          <a:ln w="3175">
            <a:solidFill>
              <a:srgbClr val="C8501E"/>
            </a:solidFill>
            <a:prstDash val="solid"/>
          </a:ln>
        </p:spPr>
      </p:sp>
      <p:sp>
        <p:nvSpPr>
          <p:cNvPr id="192" name="Prior-season share 2023"/>
          <p:cNvSpPr/>
          <p:nvPr/>
        </p:nvSpPr>
        <p:spPr>
          <a:xfrm>
            <a:off x="7415784" y="2852928"/>
            <a:ext cx="137160" cy="292608"/>
          </a:xfrm>
          <a:prstGeom prst="rect">
            <a:avLst/>
          </a:prstGeom>
          <a:solidFill>
            <a:srgbClr val="D9D5CF"/>
          </a:solidFill>
          <a:ln w="3175">
            <a:solidFill>
              <a:srgbClr val="D9D5CF"/>
            </a:solidFill>
            <a:prstDash val="solid"/>
          </a:ln>
        </p:spPr>
      </p:sp>
      <p:sp>
        <p:nvSpPr>
          <p:cNvPr id="193" name="Prior-season share 2024"/>
          <p:cNvSpPr/>
          <p:nvPr/>
        </p:nvSpPr>
        <p:spPr>
          <a:xfrm>
            <a:off x="7571232" y="2852928"/>
            <a:ext cx="137160" cy="292608"/>
          </a:xfrm>
          <a:prstGeom prst="rect">
            <a:avLst/>
          </a:prstGeom>
          <a:solidFill>
            <a:srgbClr val="C8501E"/>
          </a:solidFill>
          <a:ln w="3175">
            <a:solidFill>
              <a:srgbClr val="C8501E"/>
            </a:solidFill>
            <a:prstDash val="solid"/>
          </a:ln>
        </p:spPr>
      </p:sp>
      <p:sp>
        <p:nvSpPr>
          <p:cNvPr id="194" name="Prior-season share 2025"/>
          <p:cNvSpPr/>
          <p:nvPr/>
        </p:nvSpPr>
        <p:spPr>
          <a:xfrm>
            <a:off x="7726680" y="2852928"/>
            <a:ext cx="137160" cy="292608"/>
          </a:xfrm>
          <a:prstGeom prst="rect">
            <a:avLst/>
          </a:prstGeom>
          <a:solidFill>
            <a:srgbClr val="D9D5CF"/>
          </a:solidFill>
          <a:ln w="3175">
            <a:solidFill>
              <a:srgbClr val="D9D5CF"/>
            </a:solidFill>
            <a:prstDash val="solid"/>
          </a:ln>
        </p:spPr>
      </p:sp>
      <p:sp>
        <p:nvSpPr>
          <p:cNvPr id="195" name="Row total Prior-season share"/>
          <p:cNvSpPr txBox="1"/>
          <p:nvPr/>
        </p:nvSpPr>
        <p:spPr>
          <a:xfrm>
            <a:off x="7955280" y="2852928"/>
            <a:ext cx="548640" cy="292608"/>
          </a:xfrm>
          <a:prstGeom prst="rect">
            <a:avLst/>
          </a:prstGeom>
          <a:noFill/>
          <a:ln/>
        </p:spPr>
        <p:txBody>
          <a:bodyPr wrap="square" lIns="0" tIns="0" rIns="0" bIns="0" rtlCol="0" anchor="ctr"/>
          <a:lstStyle/>
          <a:p>
            <a:pPr indent="0" marL="0">
              <a:buNone/>
            </a:pPr>
            <a:r>
              <a:rPr lang="en-US" sz="1100" b="1" dirty="0">
                <a:solidFill>
                  <a:srgbClr val="5F6B76"/>
                </a:solidFill>
              </a:rPr>
              <a:t>10/36</a:t>
            </a:r>
            <a:endParaRPr lang="en-US" sz="1100" dirty="0"/>
          </a:p>
        </p:txBody>
      </p:sp>
      <p:sp>
        <p:nvSpPr>
          <p:cNvPr id="196" name="Year 1990"/>
          <p:cNvSpPr txBox="1"/>
          <p:nvPr/>
        </p:nvSpPr>
        <p:spPr>
          <a:xfrm>
            <a:off x="2125980" y="3182112"/>
            <a:ext cx="457200" cy="201168"/>
          </a:xfrm>
          <a:prstGeom prst="rect">
            <a:avLst/>
          </a:prstGeom>
          <a:noFill/>
          <a:ln/>
        </p:spPr>
        <p:txBody>
          <a:bodyPr wrap="square" lIns="0" tIns="0" rIns="0" bIns="0" rtlCol="0" anchor="ctr"/>
          <a:lstStyle/>
          <a:p>
            <a:pPr algn="ctr" indent="0" marL="0">
              <a:buNone/>
            </a:pPr>
            <a:r>
              <a:rPr lang="en-US" sz="1000" dirty="0">
                <a:solidFill>
                  <a:srgbClr val="5F6B76"/>
                </a:solidFill>
              </a:rPr>
              <a:t>1990</a:t>
            </a:r>
            <a:endParaRPr lang="en-US" sz="1000" dirty="0"/>
          </a:p>
        </p:txBody>
      </p:sp>
      <p:sp>
        <p:nvSpPr>
          <p:cNvPr id="197" name="Year 1995"/>
          <p:cNvSpPr txBox="1"/>
          <p:nvPr/>
        </p:nvSpPr>
        <p:spPr>
          <a:xfrm>
            <a:off x="2903220" y="3182112"/>
            <a:ext cx="457200" cy="201168"/>
          </a:xfrm>
          <a:prstGeom prst="rect">
            <a:avLst/>
          </a:prstGeom>
          <a:noFill/>
          <a:ln/>
        </p:spPr>
        <p:txBody>
          <a:bodyPr wrap="square" lIns="0" tIns="0" rIns="0" bIns="0" rtlCol="0" anchor="ctr"/>
          <a:lstStyle/>
          <a:p>
            <a:pPr algn="ctr" indent="0" marL="0">
              <a:buNone/>
            </a:pPr>
            <a:r>
              <a:rPr lang="en-US" sz="1000" dirty="0">
                <a:solidFill>
                  <a:srgbClr val="5F6B76"/>
                </a:solidFill>
              </a:rPr>
              <a:t>1995</a:t>
            </a:r>
            <a:endParaRPr lang="en-US" sz="1000" dirty="0"/>
          </a:p>
        </p:txBody>
      </p:sp>
      <p:sp>
        <p:nvSpPr>
          <p:cNvPr id="198" name="Year 2000"/>
          <p:cNvSpPr txBox="1"/>
          <p:nvPr/>
        </p:nvSpPr>
        <p:spPr>
          <a:xfrm>
            <a:off x="3680460" y="3182112"/>
            <a:ext cx="457200" cy="201168"/>
          </a:xfrm>
          <a:prstGeom prst="rect">
            <a:avLst/>
          </a:prstGeom>
          <a:noFill/>
          <a:ln/>
        </p:spPr>
        <p:txBody>
          <a:bodyPr wrap="square" lIns="0" tIns="0" rIns="0" bIns="0" rtlCol="0" anchor="ctr"/>
          <a:lstStyle/>
          <a:p>
            <a:pPr algn="ctr" indent="0" marL="0">
              <a:buNone/>
            </a:pPr>
            <a:r>
              <a:rPr lang="en-US" sz="1000" dirty="0">
                <a:solidFill>
                  <a:srgbClr val="5F6B76"/>
                </a:solidFill>
              </a:rPr>
              <a:t>2000</a:t>
            </a:r>
            <a:endParaRPr lang="en-US" sz="1000" dirty="0"/>
          </a:p>
        </p:txBody>
      </p:sp>
      <p:sp>
        <p:nvSpPr>
          <p:cNvPr id="199" name="Year 2005"/>
          <p:cNvSpPr txBox="1"/>
          <p:nvPr/>
        </p:nvSpPr>
        <p:spPr>
          <a:xfrm>
            <a:off x="4457700" y="3182112"/>
            <a:ext cx="457200" cy="201168"/>
          </a:xfrm>
          <a:prstGeom prst="rect">
            <a:avLst/>
          </a:prstGeom>
          <a:noFill/>
          <a:ln/>
        </p:spPr>
        <p:txBody>
          <a:bodyPr wrap="square" lIns="0" tIns="0" rIns="0" bIns="0" rtlCol="0" anchor="ctr"/>
          <a:lstStyle/>
          <a:p>
            <a:pPr algn="ctr" indent="0" marL="0">
              <a:buNone/>
            </a:pPr>
            <a:r>
              <a:rPr lang="en-US" sz="1000" dirty="0">
                <a:solidFill>
                  <a:srgbClr val="5F6B76"/>
                </a:solidFill>
              </a:rPr>
              <a:t>2005</a:t>
            </a:r>
            <a:endParaRPr lang="en-US" sz="1000" dirty="0"/>
          </a:p>
        </p:txBody>
      </p:sp>
      <p:sp>
        <p:nvSpPr>
          <p:cNvPr id="200" name="Year 2010"/>
          <p:cNvSpPr txBox="1"/>
          <p:nvPr/>
        </p:nvSpPr>
        <p:spPr>
          <a:xfrm>
            <a:off x="5234940" y="3182112"/>
            <a:ext cx="457200" cy="201168"/>
          </a:xfrm>
          <a:prstGeom prst="rect">
            <a:avLst/>
          </a:prstGeom>
          <a:noFill/>
          <a:ln/>
        </p:spPr>
        <p:txBody>
          <a:bodyPr wrap="square" lIns="0" tIns="0" rIns="0" bIns="0" rtlCol="0" anchor="ctr"/>
          <a:lstStyle/>
          <a:p>
            <a:pPr algn="ctr" indent="0" marL="0">
              <a:buNone/>
            </a:pPr>
            <a:r>
              <a:rPr lang="en-US" sz="1000" dirty="0">
                <a:solidFill>
                  <a:srgbClr val="5F6B76"/>
                </a:solidFill>
              </a:rPr>
              <a:t>2010</a:t>
            </a:r>
            <a:endParaRPr lang="en-US" sz="1000" dirty="0"/>
          </a:p>
        </p:txBody>
      </p:sp>
      <p:sp>
        <p:nvSpPr>
          <p:cNvPr id="201" name="Year 2015"/>
          <p:cNvSpPr txBox="1"/>
          <p:nvPr/>
        </p:nvSpPr>
        <p:spPr>
          <a:xfrm>
            <a:off x="6012180" y="3182112"/>
            <a:ext cx="457200" cy="201168"/>
          </a:xfrm>
          <a:prstGeom prst="rect">
            <a:avLst/>
          </a:prstGeom>
          <a:noFill/>
          <a:ln/>
        </p:spPr>
        <p:txBody>
          <a:bodyPr wrap="square" lIns="0" tIns="0" rIns="0" bIns="0" rtlCol="0" anchor="ctr"/>
          <a:lstStyle/>
          <a:p>
            <a:pPr algn="ctr" indent="0" marL="0">
              <a:buNone/>
            </a:pPr>
            <a:r>
              <a:rPr lang="en-US" sz="1000" dirty="0">
                <a:solidFill>
                  <a:srgbClr val="5F6B76"/>
                </a:solidFill>
              </a:rPr>
              <a:t>2015</a:t>
            </a:r>
            <a:endParaRPr lang="en-US" sz="1000" dirty="0"/>
          </a:p>
        </p:txBody>
      </p:sp>
      <p:sp>
        <p:nvSpPr>
          <p:cNvPr id="202" name="Year 2020"/>
          <p:cNvSpPr txBox="1"/>
          <p:nvPr/>
        </p:nvSpPr>
        <p:spPr>
          <a:xfrm>
            <a:off x="6789420" y="3182112"/>
            <a:ext cx="457200" cy="201168"/>
          </a:xfrm>
          <a:prstGeom prst="rect">
            <a:avLst/>
          </a:prstGeom>
          <a:noFill/>
          <a:ln/>
        </p:spPr>
        <p:txBody>
          <a:bodyPr wrap="square" lIns="0" tIns="0" rIns="0" bIns="0" rtlCol="0" anchor="ctr"/>
          <a:lstStyle/>
          <a:p>
            <a:pPr algn="ctr" indent="0" marL="0">
              <a:buNone/>
            </a:pPr>
            <a:r>
              <a:rPr lang="en-US" sz="1000" dirty="0">
                <a:solidFill>
                  <a:srgbClr val="5F6B76"/>
                </a:solidFill>
              </a:rPr>
              <a:t>2020</a:t>
            </a:r>
            <a:endParaRPr lang="en-US" sz="1000" dirty="0"/>
          </a:p>
        </p:txBody>
      </p:sp>
      <p:sp>
        <p:nvSpPr>
          <p:cNvPr id="203" name="Year 2025"/>
          <p:cNvSpPr txBox="1"/>
          <p:nvPr/>
        </p:nvSpPr>
        <p:spPr>
          <a:xfrm>
            <a:off x="7566660" y="3182112"/>
            <a:ext cx="457200" cy="201168"/>
          </a:xfrm>
          <a:prstGeom prst="rect">
            <a:avLst/>
          </a:prstGeom>
          <a:noFill/>
          <a:ln/>
        </p:spPr>
        <p:txBody>
          <a:bodyPr wrap="square" lIns="0" tIns="0" rIns="0" bIns="0" rtlCol="0" anchor="ctr"/>
          <a:lstStyle/>
          <a:p>
            <a:pPr algn="ctr" indent="0" marL="0">
              <a:buNone/>
            </a:pPr>
            <a:r>
              <a:rPr lang="en-US" sz="1000" dirty="0">
                <a:solidFill>
                  <a:srgbClr val="5F6B76"/>
                </a:solidFill>
              </a:rPr>
              <a:t>2025</a:t>
            </a:r>
            <a:endParaRPr lang="en-US" sz="1000" dirty="0"/>
          </a:p>
        </p:txBody>
      </p:sp>
      <p:sp>
        <p:nvSpPr>
          <p:cNvPr id="204" name="Consensus card"/>
          <p:cNvSpPr/>
          <p:nvPr/>
        </p:nvSpPr>
        <p:spPr>
          <a:xfrm>
            <a:off x="685800" y="3566160"/>
            <a:ext cx="3749040" cy="1051560"/>
          </a:xfrm>
          <a:prstGeom prst="rect">
            <a:avLst/>
          </a:prstGeom>
          <a:solidFill>
            <a:srgbClr val="F3F1EE"/>
          </a:solidFill>
          <a:ln w="12700">
            <a:solidFill>
              <a:srgbClr val="F3F1EE"/>
            </a:solidFill>
            <a:prstDash val="solid"/>
          </a:ln>
        </p:spPr>
      </p:sp>
      <p:sp>
        <p:nvSpPr>
          <p:cNvPr id="205" name="Consensus heading"/>
          <p:cNvSpPr txBox="1"/>
          <p:nvPr/>
        </p:nvSpPr>
        <p:spPr>
          <a:xfrm>
            <a:off x="868680" y="3621024"/>
            <a:ext cx="3383280" cy="274320"/>
          </a:xfrm>
          <a:prstGeom prst="rect">
            <a:avLst/>
          </a:prstGeom>
          <a:noFill/>
          <a:ln/>
        </p:spPr>
        <p:txBody>
          <a:bodyPr wrap="square" lIns="0" tIns="0" rIns="0" bIns="0" rtlCol="0" anchor="ctr"/>
          <a:lstStyle/>
          <a:p>
            <a:pPr indent="0" marL="0">
              <a:buNone/>
            </a:pPr>
            <a:r>
              <a:rPr lang="en-US" sz="1300" b="1" dirty="0">
                <a:solidFill>
                  <a:srgbClr val="C8501E"/>
                </a:solidFill>
              </a:rPr>
              <a:t>Consensus hits and misses</a:t>
            </a:r>
            <a:endParaRPr lang="en-US" sz="1300" dirty="0"/>
          </a:p>
        </p:txBody>
      </p:sp>
      <p:sp>
        <p:nvSpPr>
          <p:cNvPr id="206" name="Consensus text"/>
          <p:cNvSpPr txBox="1"/>
          <p:nvPr/>
        </p:nvSpPr>
        <p:spPr>
          <a:xfrm>
            <a:off x="868680" y="3913632"/>
            <a:ext cx="3383280" cy="658368"/>
          </a:xfrm>
          <a:prstGeom prst="rect">
            <a:avLst/>
          </a:prstGeom>
          <a:noFill/>
          <a:ln/>
        </p:spPr>
        <p:txBody>
          <a:bodyPr wrap="square" lIns="0" tIns="0" rIns="0" bIns="0" rtlCol="0" anchor="t"/>
          <a:lstStyle/>
          <a:p>
            <a:pPr indent="0" marL="0">
              <a:buNone/>
            </a:pPr>
            <a:r>
              <a:rPr lang="en-US" sz="1150" dirty="0">
                <a:solidFill>
                  <a:srgbClr val="1F2933"/>
                </a:solidFill>
              </a:rPr>
              <a:t>All three regression models were right in 21 seasons and wrong in 9, e.g. 1997–98 and 2023. Random Forest ranked Steve Nash 11th (2005) and 10th (2006).</a:t>
            </a:r>
            <a:endParaRPr lang="en-US" sz="1150" dirty="0"/>
          </a:p>
        </p:txBody>
      </p:sp>
      <p:sp>
        <p:nvSpPr>
          <p:cNvPr id="207" name="Latest season card"/>
          <p:cNvSpPr/>
          <p:nvPr/>
        </p:nvSpPr>
        <p:spPr>
          <a:xfrm>
            <a:off x="4709160" y="3566160"/>
            <a:ext cx="3749040" cy="1051560"/>
          </a:xfrm>
          <a:prstGeom prst="rect">
            <a:avLst/>
          </a:prstGeom>
          <a:solidFill>
            <a:srgbClr val="F3F1EE"/>
          </a:solidFill>
          <a:ln w="12700">
            <a:solidFill>
              <a:srgbClr val="F3F1EE"/>
            </a:solidFill>
            <a:prstDash val="solid"/>
          </a:ln>
        </p:spPr>
      </p:sp>
      <p:sp>
        <p:nvSpPr>
          <p:cNvPr id="208" name="Latest heading"/>
          <p:cNvSpPr txBox="1"/>
          <p:nvPr/>
        </p:nvSpPr>
        <p:spPr>
          <a:xfrm>
            <a:off x="4892040" y="3621024"/>
            <a:ext cx="3383280" cy="274320"/>
          </a:xfrm>
          <a:prstGeom prst="rect">
            <a:avLst/>
          </a:prstGeom>
          <a:noFill/>
          <a:ln/>
        </p:spPr>
        <p:txBody>
          <a:bodyPr wrap="square" lIns="0" tIns="0" rIns="0" bIns="0" rtlCol="0" anchor="ctr"/>
          <a:lstStyle/>
          <a:p>
            <a:pPr indent="0" marL="0">
              <a:buNone/>
            </a:pPr>
            <a:r>
              <a:rPr lang="en-US" sz="1300" b="1" dirty="0">
                <a:solidFill>
                  <a:srgbClr val="C8501E"/>
                </a:solidFill>
              </a:rPr>
              <a:t>Latest held-out season: 2025</a:t>
            </a:r>
            <a:endParaRPr lang="en-US" sz="1300" dirty="0"/>
          </a:p>
        </p:txBody>
      </p:sp>
      <p:sp>
        <p:nvSpPr>
          <p:cNvPr id="209" name="Latest text"/>
          <p:cNvSpPr txBox="1"/>
          <p:nvPr/>
        </p:nvSpPr>
        <p:spPr>
          <a:xfrm>
            <a:off x="4892040" y="3913632"/>
            <a:ext cx="3383280" cy="658368"/>
          </a:xfrm>
          <a:prstGeom prst="rect">
            <a:avLst/>
          </a:prstGeom>
          <a:noFill/>
          <a:ln/>
        </p:spPr>
        <p:txBody>
          <a:bodyPr wrap="square" lIns="0" tIns="0" rIns="0" bIns="0" rtlCol="0" anchor="t"/>
          <a:lstStyle/>
          <a:p>
            <a:pPr indent="0" marL="0">
              <a:buNone/>
            </a:pPr>
            <a:r>
              <a:rPr lang="en-US" sz="1150" dirty="0">
                <a:solidFill>
                  <a:srgbClr val="1F2933"/>
                </a:solidFill>
              </a:rPr>
              <a:t>Random Forest, predicted vs actual share: Gilgeous-Alexander 0.92 vs 0.91, Jokić 0.80 vs 0.79, Antetokounmpo 0.41 vs 0.47, Tatum 0.12 vs 0.31.</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le marker"/>
          <p:cNvSpPr/>
          <p:nvPr/>
        </p:nvSpPr>
        <p:spPr>
          <a:xfrm>
            <a:off x="457200" y="411480"/>
            <a:ext cx="73152" cy="548640"/>
          </a:xfrm>
          <a:prstGeom prst="rect">
            <a:avLst/>
          </a:prstGeom>
          <a:solidFill>
            <a:srgbClr val="C8501E"/>
          </a:solidFill>
          <a:ln w="12700">
            <a:solidFill>
              <a:srgbClr val="C8501E"/>
            </a:solidFill>
            <a:prstDash val="solid"/>
          </a:ln>
        </p:spPr>
      </p:sp>
      <p:sp>
        <p:nvSpPr>
          <p:cNvPr id="3" name="Title"/>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How strong is the evidence?</a:t>
            </a:r>
            <a:endParaRPr lang="en-US" sz="2800" dirty="0"/>
          </a:p>
        </p:txBody>
      </p:sp>
      <p:sp>
        <p:nvSpPr>
          <p:cNvPr id="4" name="Page number"/>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10</a:t>
            </a:r>
            <a:endParaRPr lang="en-US" sz="1000" dirty="0"/>
          </a:p>
        </p:txBody>
      </p:sp>
      <p:sp>
        <p:nvSpPr>
          <p:cNvPr id="5" name="CI heading"/>
          <p:cNvSpPr txBox="1"/>
          <p:nvPr/>
        </p:nvSpPr>
        <p:spPr>
          <a:xfrm>
            <a:off x="685800" y="1143000"/>
            <a:ext cx="3840480" cy="256032"/>
          </a:xfrm>
          <a:prstGeom prst="rect">
            <a:avLst/>
          </a:prstGeom>
          <a:noFill/>
          <a:ln/>
        </p:spPr>
        <p:txBody>
          <a:bodyPr wrap="square" lIns="0" tIns="0" rIns="0" bIns="0" rtlCol="0" anchor="ctr"/>
          <a:lstStyle/>
          <a:p>
            <a:pPr indent="0" marL="0">
              <a:buNone/>
            </a:pPr>
            <a:r>
              <a:rPr lang="en-US" sz="1300" b="1" dirty="0">
                <a:solidFill>
                  <a:srgbClr val="C8501E"/>
                </a:solidFill>
              </a:rPr>
              <a:t>Winner accuracy with Wilson 95% interval</a:t>
            </a:r>
            <a:endParaRPr lang="en-US" sz="1300" dirty="0"/>
          </a:p>
        </p:txBody>
      </p:sp>
      <p:sp>
        <p:nvSpPr>
          <p:cNvPr id="6" name="Stanford line ~50%"/>
          <p:cNvSpPr/>
          <p:nvPr/>
        </p:nvSpPr>
        <p:spPr>
          <a:xfrm>
            <a:off x="3291840" y="1645920"/>
            <a:ext cx="0" cy="1965960"/>
          </a:xfrm>
          <a:prstGeom prst="line">
            <a:avLst/>
          </a:prstGeom>
          <a:noFill/>
          <a:ln w="15875">
            <a:solidFill>
              <a:srgbClr val="C8501E"/>
            </a:solidFill>
            <a:prstDash val="dash"/>
          </a:ln>
        </p:spPr>
      </p:sp>
      <p:sp>
        <p:nvSpPr>
          <p:cNvPr id="7" name="Stanford label ~50%"/>
          <p:cNvSpPr txBox="1"/>
          <p:nvPr/>
        </p:nvSpPr>
        <p:spPr>
          <a:xfrm>
            <a:off x="3063240" y="1444752"/>
            <a:ext cx="457200" cy="201168"/>
          </a:xfrm>
          <a:prstGeom prst="rect">
            <a:avLst/>
          </a:prstGeom>
          <a:noFill/>
          <a:ln/>
        </p:spPr>
        <p:txBody>
          <a:bodyPr wrap="square" lIns="0" tIns="0" rIns="0" bIns="0" rtlCol="0" anchor="ctr"/>
          <a:lstStyle/>
          <a:p>
            <a:pPr algn="ctr" indent="0" marL="0">
              <a:buNone/>
            </a:pPr>
            <a:r>
              <a:rPr lang="en-US" sz="1000" b="1" dirty="0">
                <a:solidFill>
                  <a:srgbClr val="C8501E"/>
                </a:solidFill>
              </a:rPr>
              <a:t>~50%</a:t>
            </a:r>
            <a:endParaRPr lang="en-US" sz="1000" dirty="0"/>
          </a:p>
        </p:txBody>
      </p:sp>
      <p:sp>
        <p:nvSpPr>
          <p:cNvPr id="8" name="Stanford line ~67%"/>
          <p:cNvSpPr/>
          <p:nvPr/>
        </p:nvSpPr>
        <p:spPr>
          <a:xfrm>
            <a:off x="3680460" y="1645920"/>
            <a:ext cx="0" cy="1965960"/>
          </a:xfrm>
          <a:prstGeom prst="line">
            <a:avLst/>
          </a:prstGeom>
          <a:noFill/>
          <a:ln w="15875">
            <a:solidFill>
              <a:srgbClr val="C8501E"/>
            </a:solidFill>
            <a:prstDash val="dash"/>
          </a:ln>
        </p:spPr>
      </p:sp>
      <p:sp>
        <p:nvSpPr>
          <p:cNvPr id="9" name="Stanford label ~67%"/>
          <p:cNvSpPr txBox="1"/>
          <p:nvPr/>
        </p:nvSpPr>
        <p:spPr>
          <a:xfrm>
            <a:off x="3451860" y="1444752"/>
            <a:ext cx="457200" cy="201168"/>
          </a:xfrm>
          <a:prstGeom prst="rect">
            <a:avLst/>
          </a:prstGeom>
          <a:noFill/>
          <a:ln/>
        </p:spPr>
        <p:txBody>
          <a:bodyPr wrap="square" lIns="0" tIns="0" rIns="0" bIns="0" rtlCol="0" anchor="ctr"/>
          <a:lstStyle/>
          <a:p>
            <a:pPr algn="ctr" indent="0" marL="0">
              <a:buNone/>
            </a:pPr>
            <a:r>
              <a:rPr lang="en-US" sz="1000" b="1" dirty="0">
                <a:solidFill>
                  <a:srgbClr val="C8501E"/>
                </a:solidFill>
              </a:rPr>
              <a:t>~67%</a:t>
            </a:r>
            <a:endParaRPr lang="en-US" sz="1000" dirty="0"/>
          </a:p>
        </p:txBody>
      </p:sp>
      <p:sp>
        <p:nvSpPr>
          <p:cNvPr id="10" name="CI label Random Forest"/>
          <p:cNvSpPr txBox="1"/>
          <p:nvPr/>
        </p:nvSpPr>
        <p:spPr>
          <a:xfrm>
            <a:off x="685800" y="1737360"/>
            <a:ext cx="1371600" cy="182880"/>
          </a:xfrm>
          <a:prstGeom prst="rect">
            <a:avLst/>
          </a:prstGeom>
          <a:noFill/>
          <a:ln/>
        </p:spPr>
        <p:txBody>
          <a:bodyPr wrap="square" lIns="0" tIns="0" rIns="0" bIns="0" rtlCol="0" anchor="ctr"/>
          <a:lstStyle/>
          <a:p>
            <a:pPr indent="0" marL="0">
              <a:buNone/>
            </a:pPr>
            <a:r>
              <a:rPr lang="en-US" sz="1100" b="1" dirty="0">
                <a:solidFill>
                  <a:srgbClr val="1F2933"/>
                </a:solidFill>
              </a:rPr>
              <a:t>Random Forest</a:t>
            </a:r>
            <a:endParaRPr lang="en-US" sz="1100" dirty="0"/>
          </a:p>
        </p:txBody>
      </p:sp>
      <p:sp>
        <p:nvSpPr>
          <p:cNvPr id="11" name="CI value Random Forest"/>
          <p:cNvSpPr txBox="1"/>
          <p:nvPr/>
        </p:nvSpPr>
        <p:spPr>
          <a:xfrm>
            <a:off x="685800" y="1920240"/>
            <a:ext cx="1371600" cy="164592"/>
          </a:xfrm>
          <a:prstGeom prst="rect">
            <a:avLst/>
          </a:prstGeom>
          <a:noFill/>
          <a:ln/>
        </p:spPr>
        <p:txBody>
          <a:bodyPr wrap="square" lIns="0" tIns="0" rIns="0" bIns="0" rtlCol="0" anchor="ctr"/>
          <a:lstStyle/>
          <a:p>
            <a:pPr indent="0" marL="0">
              <a:buNone/>
            </a:pPr>
            <a:r>
              <a:rPr lang="en-US" sz="1000" dirty="0">
                <a:solidFill>
                  <a:srgbClr val="5F6B76"/>
                </a:solidFill>
              </a:rPr>
              <a:t>69.4%  [53–82]</a:t>
            </a:r>
            <a:endParaRPr lang="en-US" sz="1000" dirty="0"/>
          </a:p>
        </p:txBody>
      </p:sp>
      <p:sp>
        <p:nvSpPr>
          <p:cNvPr id="12" name="CI range Random Forest"/>
          <p:cNvSpPr/>
          <p:nvPr/>
        </p:nvSpPr>
        <p:spPr>
          <a:xfrm>
            <a:off x="3362706" y="1901952"/>
            <a:ext cx="660654" cy="0"/>
          </a:xfrm>
          <a:prstGeom prst="line">
            <a:avLst/>
          </a:prstGeom>
          <a:noFill/>
          <a:ln w="28575">
            <a:solidFill>
              <a:srgbClr val="1F2933"/>
            </a:solidFill>
            <a:prstDash val="solid"/>
          </a:ln>
        </p:spPr>
      </p:sp>
      <p:sp>
        <p:nvSpPr>
          <p:cNvPr id="13" name="CI point Random Forest"/>
          <p:cNvSpPr/>
          <p:nvPr/>
        </p:nvSpPr>
        <p:spPr>
          <a:xfrm>
            <a:off x="3671316" y="1837944"/>
            <a:ext cx="128016" cy="128016"/>
          </a:xfrm>
          <a:prstGeom prst="ellipse">
            <a:avLst/>
          </a:prstGeom>
          <a:solidFill>
            <a:srgbClr val="1F2933"/>
          </a:solidFill>
          <a:ln w="6350">
            <a:solidFill>
              <a:srgbClr val="1F2933"/>
            </a:solidFill>
            <a:prstDash val="solid"/>
          </a:ln>
        </p:spPr>
      </p:sp>
      <p:sp>
        <p:nvSpPr>
          <p:cNvPr id="14" name="CI label Gradient Boosting"/>
          <p:cNvSpPr txBox="1"/>
          <p:nvPr/>
        </p:nvSpPr>
        <p:spPr>
          <a:xfrm>
            <a:off x="685800" y="2112264"/>
            <a:ext cx="1371600" cy="182880"/>
          </a:xfrm>
          <a:prstGeom prst="rect">
            <a:avLst/>
          </a:prstGeom>
          <a:noFill/>
          <a:ln/>
        </p:spPr>
        <p:txBody>
          <a:bodyPr wrap="square" lIns="0" tIns="0" rIns="0" bIns="0" rtlCol="0" anchor="ctr"/>
          <a:lstStyle/>
          <a:p>
            <a:pPr indent="0" marL="0">
              <a:buNone/>
            </a:pPr>
            <a:r>
              <a:rPr lang="en-US" sz="1100" b="1" dirty="0">
                <a:solidFill>
                  <a:srgbClr val="1F2933"/>
                </a:solidFill>
              </a:rPr>
              <a:t>Gradient Boosting</a:t>
            </a:r>
            <a:endParaRPr lang="en-US" sz="1100" dirty="0"/>
          </a:p>
        </p:txBody>
      </p:sp>
      <p:sp>
        <p:nvSpPr>
          <p:cNvPr id="15" name="CI value Gradient Boosting"/>
          <p:cNvSpPr txBox="1"/>
          <p:nvPr/>
        </p:nvSpPr>
        <p:spPr>
          <a:xfrm>
            <a:off x="685800" y="2295144"/>
            <a:ext cx="1371600" cy="164592"/>
          </a:xfrm>
          <a:prstGeom prst="rect">
            <a:avLst/>
          </a:prstGeom>
          <a:noFill/>
          <a:ln/>
        </p:spPr>
        <p:txBody>
          <a:bodyPr wrap="square" lIns="0" tIns="0" rIns="0" bIns="0" rtlCol="0" anchor="ctr"/>
          <a:lstStyle/>
          <a:p>
            <a:pPr indent="0" marL="0">
              <a:buNone/>
            </a:pPr>
            <a:r>
              <a:rPr lang="en-US" sz="1000" dirty="0">
                <a:solidFill>
                  <a:srgbClr val="5F6B76"/>
                </a:solidFill>
              </a:rPr>
              <a:t>66.7%  [50–80]</a:t>
            </a:r>
            <a:endParaRPr lang="en-US" sz="1000" dirty="0"/>
          </a:p>
        </p:txBody>
      </p:sp>
      <p:sp>
        <p:nvSpPr>
          <p:cNvPr id="16" name="CI range Gradient Boosting"/>
          <p:cNvSpPr/>
          <p:nvPr/>
        </p:nvSpPr>
        <p:spPr>
          <a:xfrm>
            <a:off x="3298698" y="2276856"/>
            <a:ext cx="674370" cy="0"/>
          </a:xfrm>
          <a:prstGeom prst="line">
            <a:avLst/>
          </a:prstGeom>
          <a:noFill/>
          <a:ln w="28575">
            <a:solidFill>
              <a:srgbClr val="1F2933"/>
            </a:solidFill>
            <a:prstDash val="solid"/>
          </a:ln>
        </p:spPr>
      </p:sp>
      <p:sp>
        <p:nvSpPr>
          <p:cNvPr id="17" name="CI point Gradient Boosting"/>
          <p:cNvSpPr/>
          <p:nvPr/>
        </p:nvSpPr>
        <p:spPr>
          <a:xfrm>
            <a:off x="3609594" y="2212848"/>
            <a:ext cx="128016" cy="128016"/>
          </a:xfrm>
          <a:prstGeom prst="ellipse">
            <a:avLst/>
          </a:prstGeom>
          <a:solidFill>
            <a:srgbClr val="1F2933"/>
          </a:solidFill>
          <a:ln w="6350">
            <a:solidFill>
              <a:srgbClr val="1F2933"/>
            </a:solidFill>
            <a:prstDash val="solid"/>
          </a:ln>
        </p:spPr>
      </p:sp>
      <p:sp>
        <p:nvSpPr>
          <p:cNvPr id="18" name="CI label Ridge Regression"/>
          <p:cNvSpPr txBox="1"/>
          <p:nvPr/>
        </p:nvSpPr>
        <p:spPr>
          <a:xfrm>
            <a:off x="685800" y="2487168"/>
            <a:ext cx="1371600" cy="182880"/>
          </a:xfrm>
          <a:prstGeom prst="rect">
            <a:avLst/>
          </a:prstGeom>
          <a:noFill/>
          <a:ln/>
        </p:spPr>
        <p:txBody>
          <a:bodyPr wrap="square" lIns="0" tIns="0" rIns="0" bIns="0" rtlCol="0" anchor="ctr"/>
          <a:lstStyle/>
          <a:p>
            <a:pPr indent="0" marL="0">
              <a:buNone/>
            </a:pPr>
            <a:r>
              <a:rPr lang="en-US" sz="1100" b="1" dirty="0">
                <a:solidFill>
                  <a:srgbClr val="1F2933"/>
                </a:solidFill>
              </a:rPr>
              <a:t>Ridge Regression</a:t>
            </a:r>
            <a:endParaRPr lang="en-US" sz="1100" dirty="0"/>
          </a:p>
        </p:txBody>
      </p:sp>
      <p:sp>
        <p:nvSpPr>
          <p:cNvPr id="19" name="CI value Ridge Regression"/>
          <p:cNvSpPr txBox="1"/>
          <p:nvPr/>
        </p:nvSpPr>
        <p:spPr>
          <a:xfrm>
            <a:off x="685800" y="2670048"/>
            <a:ext cx="1371600" cy="164592"/>
          </a:xfrm>
          <a:prstGeom prst="rect">
            <a:avLst/>
          </a:prstGeom>
          <a:noFill/>
          <a:ln/>
        </p:spPr>
        <p:txBody>
          <a:bodyPr wrap="square" lIns="0" tIns="0" rIns="0" bIns="0" rtlCol="0" anchor="ctr"/>
          <a:lstStyle/>
          <a:p>
            <a:pPr indent="0" marL="0">
              <a:buNone/>
            </a:pPr>
            <a:r>
              <a:rPr lang="en-US" sz="1000" dirty="0">
                <a:solidFill>
                  <a:srgbClr val="5F6B76"/>
                </a:solidFill>
              </a:rPr>
              <a:t>63.9%  [48–78]</a:t>
            </a:r>
            <a:endParaRPr lang="en-US" sz="1000" dirty="0"/>
          </a:p>
        </p:txBody>
      </p:sp>
      <p:sp>
        <p:nvSpPr>
          <p:cNvPr id="20" name="CI range Ridge Regression"/>
          <p:cNvSpPr/>
          <p:nvPr/>
        </p:nvSpPr>
        <p:spPr>
          <a:xfrm>
            <a:off x="3236976" y="2651760"/>
            <a:ext cx="683514" cy="0"/>
          </a:xfrm>
          <a:prstGeom prst="line">
            <a:avLst/>
          </a:prstGeom>
          <a:noFill/>
          <a:ln w="28575">
            <a:solidFill>
              <a:srgbClr val="1F2933"/>
            </a:solidFill>
            <a:prstDash val="solid"/>
          </a:ln>
        </p:spPr>
      </p:sp>
      <p:sp>
        <p:nvSpPr>
          <p:cNvPr id="21" name="CI point Ridge Regression"/>
          <p:cNvSpPr/>
          <p:nvPr/>
        </p:nvSpPr>
        <p:spPr>
          <a:xfrm>
            <a:off x="3545586" y="2587752"/>
            <a:ext cx="128016" cy="128016"/>
          </a:xfrm>
          <a:prstGeom prst="ellipse">
            <a:avLst/>
          </a:prstGeom>
          <a:solidFill>
            <a:srgbClr val="1F2933"/>
          </a:solidFill>
          <a:ln w="6350">
            <a:solidFill>
              <a:srgbClr val="1F2933"/>
            </a:solidFill>
            <a:prstDash val="solid"/>
          </a:ln>
        </p:spPr>
      </p:sp>
      <p:sp>
        <p:nvSpPr>
          <p:cNvPr id="22" name="CI label WS-only Ridge"/>
          <p:cNvSpPr txBox="1"/>
          <p:nvPr/>
        </p:nvSpPr>
        <p:spPr>
          <a:xfrm>
            <a:off x="685800" y="2862072"/>
            <a:ext cx="1371600" cy="182880"/>
          </a:xfrm>
          <a:prstGeom prst="rect">
            <a:avLst/>
          </a:prstGeom>
          <a:noFill/>
          <a:ln/>
        </p:spPr>
        <p:txBody>
          <a:bodyPr wrap="square" lIns="0" tIns="0" rIns="0" bIns="0" rtlCol="0" anchor="ctr"/>
          <a:lstStyle/>
          <a:p>
            <a:pPr indent="0" marL="0">
              <a:buNone/>
            </a:pPr>
            <a:r>
              <a:rPr lang="en-US" sz="1100" dirty="0">
                <a:solidFill>
                  <a:srgbClr val="5F6B76"/>
                </a:solidFill>
              </a:rPr>
              <a:t>WS-only Ridge</a:t>
            </a:r>
            <a:endParaRPr lang="en-US" sz="1100" dirty="0"/>
          </a:p>
        </p:txBody>
      </p:sp>
      <p:sp>
        <p:nvSpPr>
          <p:cNvPr id="23" name="CI value WS-only Ridge"/>
          <p:cNvSpPr txBox="1"/>
          <p:nvPr/>
        </p:nvSpPr>
        <p:spPr>
          <a:xfrm>
            <a:off x="685800" y="3044952"/>
            <a:ext cx="1371600" cy="164592"/>
          </a:xfrm>
          <a:prstGeom prst="rect">
            <a:avLst/>
          </a:prstGeom>
          <a:noFill/>
          <a:ln/>
        </p:spPr>
        <p:txBody>
          <a:bodyPr wrap="square" lIns="0" tIns="0" rIns="0" bIns="0" rtlCol="0" anchor="ctr"/>
          <a:lstStyle/>
          <a:p>
            <a:pPr indent="0" marL="0">
              <a:buNone/>
            </a:pPr>
            <a:r>
              <a:rPr lang="en-US" sz="1000" dirty="0">
                <a:solidFill>
                  <a:srgbClr val="5F6B76"/>
                </a:solidFill>
              </a:rPr>
              <a:t>58.3%  [42–73]</a:t>
            </a:r>
            <a:endParaRPr lang="en-US" sz="1000" dirty="0"/>
          </a:p>
        </p:txBody>
      </p:sp>
      <p:sp>
        <p:nvSpPr>
          <p:cNvPr id="24" name="CI range WS-only Ridge"/>
          <p:cNvSpPr/>
          <p:nvPr/>
        </p:nvSpPr>
        <p:spPr>
          <a:xfrm>
            <a:off x="3113532" y="3026664"/>
            <a:ext cx="701802" cy="0"/>
          </a:xfrm>
          <a:prstGeom prst="line">
            <a:avLst/>
          </a:prstGeom>
          <a:noFill/>
          <a:ln w="28575">
            <a:solidFill>
              <a:srgbClr val="5F6B76"/>
            </a:solidFill>
            <a:prstDash val="solid"/>
          </a:ln>
        </p:spPr>
      </p:sp>
      <p:sp>
        <p:nvSpPr>
          <p:cNvPr id="25" name="CI point WS-only Ridge"/>
          <p:cNvSpPr/>
          <p:nvPr/>
        </p:nvSpPr>
        <p:spPr>
          <a:xfrm>
            <a:off x="3417570" y="2962656"/>
            <a:ext cx="128016" cy="128016"/>
          </a:xfrm>
          <a:prstGeom prst="ellipse">
            <a:avLst/>
          </a:prstGeom>
          <a:solidFill>
            <a:srgbClr val="5F6B76"/>
          </a:solidFill>
          <a:ln w="6350">
            <a:solidFill>
              <a:srgbClr val="5F6B76"/>
            </a:solidFill>
            <a:prstDash val="solid"/>
          </a:ln>
        </p:spPr>
      </p:sp>
      <p:sp>
        <p:nvSpPr>
          <p:cNvPr id="26" name="CI label Prior-season share"/>
          <p:cNvSpPr txBox="1"/>
          <p:nvPr/>
        </p:nvSpPr>
        <p:spPr>
          <a:xfrm>
            <a:off x="685800" y="3236976"/>
            <a:ext cx="1371600" cy="182880"/>
          </a:xfrm>
          <a:prstGeom prst="rect">
            <a:avLst/>
          </a:prstGeom>
          <a:noFill/>
          <a:ln/>
        </p:spPr>
        <p:txBody>
          <a:bodyPr wrap="square" lIns="0" tIns="0" rIns="0" bIns="0" rtlCol="0" anchor="ctr"/>
          <a:lstStyle/>
          <a:p>
            <a:pPr indent="0" marL="0">
              <a:buNone/>
            </a:pPr>
            <a:r>
              <a:rPr lang="en-US" sz="1100" dirty="0">
                <a:solidFill>
                  <a:srgbClr val="5F6B76"/>
                </a:solidFill>
              </a:rPr>
              <a:t>Prior-season share</a:t>
            </a:r>
            <a:endParaRPr lang="en-US" sz="1100" dirty="0"/>
          </a:p>
        </p:txBody>
      </p:sp>
      <p:sp>
        <p:nvSpPr>
          <p:cNvPr id="27" name="CI value Prior-season share"/>
          <p:cNvSpPr txBox="1"/>
          <p:nvPr/>
        </p:nvSpPr>
        <p:spPr>
          <a:xfrm>
            <a:off x="685800" y="3419856"/>
            <a:ext cx="1371600" cy="164592"/>
          </a:xfrm>
          <a:prstGeom prst="rect">
            <a:avLst/>
          </a:prstGeom>
          <a:noFill/>
          <a:ln/>
        </p:spPr>
        <p:txBody>
          <a:bodyPr wrap="square" lIns="0" tIns="0" rIns="0" bIns="0" rtlCol="0" anchor="ctr"/>
          <a:lstStyle/>
          <a:p>
            <a:pPr indent="0" marL="0">
              <a:buNone/>
            </a:pPr>
            <a:r>
              <a:rPr lang="en-US" sz="1000" dirty="0">
                <a:solidFill>
                  <a:srgbClr val="5F6B76"/>
                </a:solidFill>
              </a:rPr>
              <a:t>27.8%  [16–44]</a:t>
            </a:r>
            <a:endParaRPr lang="en-US" sz="1000" dirty="0"/>
          </a:p>
        </p:txBody>
      </p:sp>
      <p:sp>
        <p:nvSpPr>
          <p:cNvPr id="28" name="CI range Prior-season share"/>
          <p:cNvSpPr/>
          <p:nvPr/>
        </p:nvSpPr>
        <p:spPr>
          <a:xfrm>
            <a:off x="2510028" y="3401568"/>
            <a:ext cx="644652" cy="0"/>
          </a:xfrm>
          <a:prstGeom prst="line">
            <a:avLst/>
          </a:prstGeom>
          <a:noFill/>
          <a:ln w="28575">
            <a:solidFill>
              <a:srgbClr val="5F6B76"/>
            </a:solidFill>
            <a:prstDash val="solid"/>
          </a:ln>
        </p:spPr>
      </p:sp>
      <p:sp>
        <p:nvSpPr>
          <p:cNvPr id="29" name="CI point Prior-season share"/>
          <p:cNvSpPr/>
          <p:nvPr/>
        </p:nvSpPr>
        <p:spPr>
          <a:xfrm>
            <a:off x="2720340" y="3337560"/>
            <a:ext cx="128016" cy="128016"/>
          </a:xfrm>
          <a:prstGeom prst="ellipse">
            <a:avLst/>
          </a:prstGeom>
          <a:solidFill>
            <a:srgbClr val="5F6B76"/>
          </a:solidFill>
          <a:ln w="6350">
            <a:solidFill>
              <a:srgbClr val="5F6B76"/>
            </a:solidFill>
            <a:prstDash val="solid"/>
          </a:ln>
        </p:spPr>
      </p:sp>
      <p:sp>
        <p:nvSpPr>
          <p:cNvPr id="30" name="CI axis"/>
          <p:cNvSpPr/>
          <p:nvPr/>
        </p:nvSpPr>
        <p:spPr>
          <a:xfrm>
            <a:off x="2148840" y="3630168"/>
            <a:ext cx="2286000" cy="0"/>
          </a:xfrm>
          <a:prstGeom prst="line">
            <a:avLst/>
          </a:prstGeom>
          <a:noFill/>
          <a:ln w="9525">
            <a:solidFill>
              <a:srgbClr val="5F6B76"/>
            </a:solidFill>
            <a:prstDash val="solid"/>
          </a:ln>
        </p:spPr>
      </p:sp>
      <p:sp>
        <p:nvSpPr>
          <p:cNvPr id="31" name="CI tick 0%"/>
          <p:cNvSpPr txBox="1"/>
          <p:nvPr/>
        </p:nvSpPr>
        <p:spPr>
          <a:xfrm>
            <a:off x="1920240" y="3666744"/>
            <a:ext cx="457200" cy="182880"/>
          </a:xfrm>
          <a:prstGeom prst="rect">
            <a:avLst/>
          </a:prstGeom>
          <a:noFill/>
          <a:ln/>
        </p:spPr>
        <p:txBody>
          <a:bodyPr wrap="square" lIns="0" tIns="0" rIns="0" bIns="0" rtlCol="0" anchor="ctr"/>
          <a:lstStyle/>
          <a:p>
            <a:pPr algn="ctr" indent="0" marL="0">
              <a:buNone/>
            </a:pPr>
            <a:r>
              <a:rPr lang="en-US" sz="1000" dirty="0">
                <a:solidFill>
                  <a:srgbClr val="5F6B76"/>
                </a:solidFill>
              </a:rPr>
              <a:t>0%</a:t>
            </a:r>
            <a:endParaRPr lang="en-US" sz="1000" dirty="0"/>
          </a:p>
        </p:txBody>
      </p:sp>
      <p:sp>
        <p:nvSpPr>
          <p:cNvPr id="32" name="CI tick 50%"/>
          <p:cNvSpPr txBox="1"/>
          <p:nvPr/>
        </p:nvSpPr>
        <p:spPr>
          <a:xfrm>
            <a:off x="3063240" y="3666744"/>
            <a:ext cx="457200" cy="182880"/>
          </a:xfrm>
          <a:prstGeom prst="rect">
            <a:avLst/>
          </a:prstGeom>
          <a:noFill/>
          <a:ln/>
        </p:spPr>
        <p:txBody>
          <a:bodyPr wrap="square" lIns="0" tIns="0" rIns="0" bIns="0" rtlCol="0" anchor="ctr"/>
          <a:lstStyle/>
          <a:p>
            <a:pPr algn="ctr" indent="0" marL="0">
              <a:buNone/>
            </a:pPr>
            <a:r>
              <a:rPr lang="en-US" sz="1000" dirty="0">
                <a:solidFill>
                  <a:srgbClr val="5F6B76"/>
                </a:solidFill>
              </a:rPr>
              <a:t>50%</a:t>
            </a:r>
            <a:endParaRPr lang="en-US" sz="1000" dirty="0"/>
          </a:p>
        </p:txBody>
      </p:sp>
      <p:sp>
        <p:nvSpPr>
          <p:cNvPr id="33" name="CI tick 100%"/>
          <p:cNvSpPr txBox="1"/>
          <p:nvPr/>
        </p:nvSpPr>
        <p:spPr>
          <a:xfrm>
            <a:off x="4206240" y="3666744"/>
            <a:ext cx="457200" cy="182880"/>
          </a:xfrm>
          <a:prstGeom prst="rect">
            <a:avLst/>
          </a:prstGeom>
          <a:noFill/>
          <a:ln/>
        </p:spPr>
        <p:txBody>
          <a:bodyPr wrap="square" lIns="0" tIns="0" rIns="0" bIns="0" rtlCol="0" anchor="ctr"/>
          <a:lstStyle/>
          <a:p>
            <a:pPr algn="ctr" indent="0" marL="0">
              <a:buNone/>
            </a:pPr>
            <a:r>
              <a:rPr lang="en-US" sz="1000" dirty="0">
                <a:solidFill>
                  <a:srgbClr val="5F6B76"/>
                </a:solidFill>
              </a:rPr>
              <a:t>100%</a:t>
            </a:r>
            <a:endParaRPr lang="en-US" sz="1000" dirty="0"/>
          </a:p>
        </p:txBody>
      </p:sp>
      <p:sp>
        <p:nvSpPr>
          <p:cNvPr id="34" name="Paired heading"/>
          <p:cNvSpPr txBox="1"/>
          <p:nvPr/>
        </p:nvSpPr>
        <p:spPr>
          <a:xfrm>
            <a:off x="4754880" y="1143000"/>
            <a:ext cx="3703320" cy="256032"/>
          </a:xfrm>
          <a:prstGeom prst="rect">
            <a:avLst/>
          </a:prstGeom>
          <a:noFill/>
          <a:ln/>
        </p:spPr>
        <p:txBody>
          <a:bodyPr wrap="square" lIns="0" tIns="0" rIns="0" bIns="0" rtlCol="0" anchor="ctr"/>
          <a:lstStyle/>
          <a:p>
            <a:pPr indent="0" marL="0">
              <a:buNone/>
            </a:pPr>
            <a:r>
              <a:rPr lang="en-US" sz="1300" b="1" dirty="0">
                <a:solidFill>
                  <a:srgbClr val="C8501E"/>
                </a:solidFill>
              </a:rPr>
              <a:t>Paired season tests (A vs B)</a:t>
            </a:r>
            <a:endParaRPr lang="en-US" sz="1300" dirty="0"/>
          </a:p>
        </p:txBody>
      </p:sp>
      <p:graphicFrame>
        <p:nvGraphicFramePr>
          <p:cNvPr id="11" name="Paired tests table"/>
          <p:cNvGraphicFramePr>
            <a:graphicFrameLocks noGrp="1"/>
          </p:cNvGraphicFramePr>
          <p:nvPr>
            <p:extLst>
              <p:ext uri="{D42A27DB-BD31-4B8C-83A1-F6EECF244321}">
                <p14:modId xmlns:p14="http://schemas.microsoft.com/office/powerpoint/2010/main" val="1579011935"/>
              </p:ext>
            </p:extLst>
          </p:nvPr>
        </p:nvGraphicFramePr>
        <p:xfrm>
          <a:off x="4754880" y="1463040"/>
          <a:ext cx="3703320" cy="914400"/>
        </p:xfrm>
        <a:graphic>
          <a:graphicData uri="http://schemas.openxmlformats.org/drawingml/2006/table">
            <a:tbl>
              <a:tblPr/>
              <a:tblGrid>
                <a:gridCol w="1783080"/>
                <a:gridCol w="960120"/>
                <a:gridCol w="960120"/>
              </a:tblGrid>
              <a:tr h="274320">
                <a:tc>
                  <a:txBody>
                    <a:bodyPr/>
                    <a:lstStyle/>
                    <a:p>
                      <a:pPr algn="l" indent="0" marL="0">
                        <a:buNone/>
                      </a:pPr>
                      <a:r>
                        <a:rPr lang="en-US" sz="1100" b="1" dirty="0">
                          <a:solidFill>
                            <a:srgbClr val="FFFFFF"/>
                          </a:solidFill>
                        </a:rPr>
                        <a:t>Comparison</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rPr>
                        <a:t>Seasons A–B</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rPr>
                        <a:t>One-sided p</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r>
              <a:tr h="274320">
                <a:tc>
                  <a:txBody>
                    <a:bodyPr/>
                    <a:lstStyle/>
                    <a:p>
                      <a:pPr algn="l" indent="0" marL="0">
                        <a:buNone/>
                      </a:pPr>
                      <a:r>
                        <a:rPr lang="en-US" sz="1100" dirty="0">
                          <a:solidFill>
                            <a:srgbClr val="1F2933"/>
                          </a:solidFill>
                        </a:rPr>
                        <a:t>RF vs prior-season</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16–1</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b="1" dirty="0">
                          <a:solidFill>
                            <a:srgbClr val="C8501E"/>
                          </a:solidFill>
                        </a:rPr>
                        <a:t>0.0001</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274320">
                <a:tc>
                  <a:txBody>
                    <a:bodyPr/>
                    <a:lstStyle/>
                    <a:p>
                      <a:pPr algn="l" indent="0" marL="0">
                        <a:buNone/>
                      </a:pPr>
                      <a:r>
                        <a:rPr lang="en-US" sz="1100" dirty="0">
                          <a:solidFill>
                            <a:srgbClr val="1F2933"/>
                          </a:solidFill>
                        </a:rPr>
                        <a:t>GB vs prior-season</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15–1</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b="1" dirty="0">
                          <a:solidFill>
                            <a:srgbClr val="C8501E"/>
                          </a:solidFill>
                        </a:rPr>
                        <a:t>0.0003</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274320">
                <a:tc>
                  <a:txBody>
                    <a:bodyPr/>
                    <a:lstStyle/>
                    <a:p>
                      <a:pPr algn="l" indent="0" marL="0">
                        <a:buNone/>
                      </a:pPr>
                      <a:r>
                        <a:rPr lang="en-US" sz="1100" dirty="0">
                          <a:solidFill>
                            <a:srgbClr val="1F2933"/>
                          </a:solidFill>
                        </a:rPr>
                        <a:t>Ridge vs prior-season</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15–2</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b="1" dirty="0">
                          <a:solidFill>
                            <a:srgbClr val="C8501E"/>
                          </a:solidFill>
                        </a:rPr>
                        <a:t>0.0012</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274320">
                <a:tc>
                  <a:txBody>
                    <a:bodyPr/>
                    <a:lstStyle/>
                    <a:p>
                      <a:pPr algn="l" indent="0" marL="0">
                        <a:buNone/>
                      </a:pPr>
                      <a:r>
                        <a:rPr lang="en-US" sz="1100" dirty="0">
                          <a:solidFill>
                            <a:srgbClr val="1F2933"/>
                          </a:solidFill>
                        </a:rPr>
                        <a:t>RF vs WS-only Ridge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4–0</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0.0625</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274320">
                <a:tc>
                  <a:txBody>
                    <a:bodyPr/>
                    <a:lstStyle/>
                    <a:p>
                      <a:pPr algn="l" indent="0" marL="0">
                        <a:buNone/>
                      </a:pPr>
                      <a:r>
                        <a:rPr lang="en-US" sz="1100" dirty="0">
                          <a:solidFill>
                            <a:srgbClr val="1F2933"/>
                          </a:solidFill>
                        </a:rPr>
                        <a:t>GB vs WS-only Ridge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4–1</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0.1875</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274320">
                <a:tc>
                  <a:txBody>
                    <a:bodyPr/>
                    <a:lstStyle/>
                    <a:p>
                      <a:pPr algn="l" indent="0" marL="0">
                        <a:buNone/>
                      </a:pPr>
                      <a:r>
                        <a:rPr lang="en-US" sz="1100" dirty="0">
                          <a:solidFill>
                            <a:srgbClr val="1F2933"/>
                          </a:solidFill>
                        </a:rPr>
                        <a:t>Ridge vs WS-only Ridge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2–0</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0.2500</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274320">
                <a:tc>
                  <a:txBody>
                    <a:bodyPr/>
                    <a:lstStyle/>
                    <a:p>
                      <a:pPr algn="l" indent="0" marL="0">
                        <a:buNone/>
                      </a:pPr>
                      <a:r>
                        <a:rPr lang="en-US" sz="1100" dirty="0">
                          <a:solidFill>
                            <a:srgbClr val="1F2933"/>
                          </a:solidFill>
                        </a:rPr>
                        <a:t>GB vs RF</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1–2</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ctr" indent="0" marL="0">
                        <a:buNone/>
                      </a:pPr>
                      <a:r>
                        <a:rPr lang="en-US" sz="1100" dirty="0">
                          <a:solidFill>
                            <a:srgbClr val="1F2933"/>
                          </a:solidFill>
                        </a:rPr>
                        <a:t>0.8750</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bl>
          </a:graphicData>
        </a:graphic>
      </p:graphicFrame>
      <p:sp>
        <p:nvSpPr>
          <p:cNvPr id="36" name="Abbreviations"/>
          <p:cNvSpPr txBox="1"/>
          <p:nvPr/>
        </p:nvSpPr>
        <p:spPr>
          <a:xfrm>
            <a:off x="4754880" y="3675888"/>
            <a:ext cx="3703320" cy="310896"/>
          </a:xfrm>
          <a:prstGeom prst="rect">
            <a:avLst/>
          </a:prstGeom>
          <a:noFill/>
          <a:ln/>
        </p:spPr>
        <p:txBody>
          <a:bodyPr wrap="square" lIns="0" tIns="0" rIns="0" bIns="0" rtlCol="0" anchor="t"/>
          <a:lstStyle/>
          <a:p>
            <a:pPr indent="0" marL="0">
              <a:buNone/>
            </a:pPr>
            <a:r>
              <a:rPr lang="en-US" sz="1000" dirty="0">
                <a:solidFill>
                  <a:srgbClr val="5F6B76"/>
                </a:solidFill>
              </a:rPr>
              <a:t>RF = Random Forest, GB = Gradient Boosting, WS-only = Win Shares-only. A–B = seasons only A / only B was correct.</a:t>
            </a:r>
            <a:endParaRPr lang="en-US" sz="1000" dirty="0"/>
          </a:p>
        </p:txBody>
      </p:sp>
      <p:sp>
        <p:nvSpPr>
          <p:cNvPr id="37" name="Evidence card"/>
          <p:cNvSpPr/>
          <p:nvPr/>
        </p:nvSpPr>
        <p:spPr>
          <a:xfrm>
            <a:off x="685800" y="4087368"/>
            <a:ext cx="7772400" cy="566928"/>
          </a:xfrm>
          <a:prstGeom prst="rect">
            <a:avLst/>
          </a:prstGeom>
          <a:solidFill>
            <a:srgbClr val="F3F1EE"/>
          </a:solidFill>
          <a:ln w="12700">
            <a:solidFill>
              <a:srgbClr val="F3F1EE"/>
            </a:solidFill>
            <a:prstDash val="solid"/>
          </a:ln>
        </p:spPr>
      </p:sp>
      <p:sp>
        <p:nvSpPr>
          <p:cNvPr id="38" name="Evidence text"/>
          <p:cNvSpPr txBox="1"/>
          <p:nvPr/>
        </p:nvSpPr>
        <p:spPr>
          <a:xfrm>
            <a:off x="868680" y="4096512"/>
            <a:ext cx="7406640" cy="548640"/>
          </a:xfrm>
          <a:prstGeom prst="rect">
            <a:avLst/>
          </a:prstGeom>
          <a:noFill/>
          <a:ln/>
        </p:spPr>
        <p:txBody>
          <a:bodyPr wrap="square" lIns="0" tIns="0" rIns="0" bIns="0" rtlCol="0" anchor="ctr"/>
          <a:lstStyle/>
          <a:p>
            <a:pPr indent="0" marL="0">
              <a:buNone/>
            </a:pPr>
            <a:r>
              <a:rPr lang="en-US" sz="1200" b="1" dirty="0">
                <a:solidFill>
                  <a:srgbClr val="C8501E"/>
                </a:solidFill>
              </a:rPr>
              <a:t>Clear: </a:t>
            </a:r>
            <a:pPr indent="0" marL="0">
              <a:buNone/>
            </a:pPr>
            <a:r>
              <a:rPr lang="en-US" sz="1200" dirty="0">
                <a:solidFill>
                  <a:srgbClr val="1F2933"/>
                </a:solidFill>
              </a:rPr>
              <a:t>all three models beat the prior-season baseline (p &lt; 0.002). </a:t>
            </a:r>
            <a:pPr indent="0" marL="0">
              <a:buNone/>
            </a:pPr>
            <a:r>
              <a:rPr lang="en-US" sz="1200" b="1" dirty="0">
                <a:solidFill>
                  <a:srgbClr val="C8501E"/>
                </a:solidFill>
              </a:rPr>
              <a:t>Not clear: </a:t>
            </a:r>
            <a:pPr indent="0" marL="0">
              <a:buNone/>
            </a:pPr>
            <a:r>
              <a:rPr lang="en-US" sz="1200" dirty="0">
                <a:solidFill>
                  <a:srgbClr val="1F2933"/>
                </a:solidFill>
              </a:rPr>
              <a:t>none is significantly better than Win Shares-only Ridge or than each other. Random Forest's 53–82% interval spans both Stanford figures (dashed lines).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itle marker"/>
          <p:cNvSpPr/>
          <p:nvPr/>
        </p:nvSpPr>
        <p:spPr>
          <a:xfrm>
            <a:off x="457200" y="411480"/>
            <a:ext cx="73152" cy="548640"/>
          </a:xfrm>
          <a:prstGeom prst="rect">
            <a:avLst/>
          </a:prstGeom>
          <a:solidFill>
            <a:srgbClr val="C8501E"/>
          </a:solidFill>
          <a:ln w="12700">
            <a:solidFill>
              <a:srgbClr val="C8501E"/>
            </a:solidFill>
            <a:prstDash val="solid"/>
          </a:ln>
        </p:spPr>
      </p:sp>
      <p:sp>
        <p:nvSpPr>
          <p:cNvPr id="3" name="Title"/>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Comparing with Stanford CS229</a:t>
            </a:r>
            <a:endParaRPr lang="en-US" sz="2800" dirty="0"/>
          </a:p>
        </p:txBody>
      </p:sp>
      <p:sp>
        <p:nvSpPr>
          <p:cNvPr id="4" name="Page number"/>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11</a:t>
            </a:r>
            <a:endParaRPr lang="en-US" sz="1000" dirty="0"/>
          </a:p>
        </p:txBody>
      </p:sp>
      <p:graphicFrame>
        <p:nvGraphicFramePr>
          <p:cNvPr id="12" name="Comparison table"/>
          <p:cNvGraphicFramePr>
            <a:graphicFrameLocks noGrp="1"/>
          </p:cNvGraphicFramePr>
          <p:nvPr>
            <p:extLst>
              <p:ext uri="{D42A27DB-BD31-4B8C-83A1-F6EECF244321}">
                <p14:modId xmlns:p14="http://schemas.microsoft.com/office/powerpoint/2010/main" val="1579011935"/>
              </p:ext>
            </p:extLst>
          </p:nvPr>
        </p:nvGraphicFramePr>
        <p:xfrm>
          <a:off x="685800" y="1188720"/>
          <a:ext cx="7772400" cy="914400"/>
        </p:xfrm>
        <a:graphic>
          <a:graphicData uri="http://schemas.openxmlformats.org/drawingml/2006/table">
            <a:tbl>
              <a:tblPr/>
              <a:tblGrid>
                <a:gridCol w="2286000"/>
                <a:gridCol w="2194560"/>
                <a:gridCol w="1554480"/>
                <a:gridCol w="1737360"/>
              </a:tblGrid>
              <a:tr h="365760">
                <a:tc>
                  <a:txBody>
                    <a:bodyPr/>
                    <a:lstStyle/>
                    <a:p>
                      <a:pPr algn="l" indent="0" marL="0">
                        <a:buNone/>
                      </a:pPr>
                      <a:r>
                        <a:rPr lang="en-US" sz="1200" b="1" dirty="0">
                          <a:solidFill>
                            <a:srgbClr val="FFFFFF"/>
                          </a:solidFill>
                        </a:rPr>
                        <a:t>Study and setting</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c>
                  <a:txBody>
                    <a:bodyPr/>
                    <a:lstStyle/>
                    <a:p>
                      <a:pPr algn="l" indent="0" marL="0">
                        <a:buNone/>
                      </a:pPr>
                      <a:r>
                        <a:rPr lang="en-US" sz="1200" b="1" dirty="0">
                          <a:solidFill>
                            <a:srgbClr val="FFFFFF"/>
                          </a:solidFill>
                        </a:rPr>
                        <a:t>Candidates ranked</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c>
                  <a:txBody>
                    <a:bodyPr/>
                    <a:lstStyle/>
                    <a:p>
                      <a:pPr algn="l" indent="0" marL="0">
                        <a:buNone/>
                      </a:pPr>
                      <a:r>
                        <a:rPr lang="en-US" sz="1200" b="1" dirty="0">
                          <a:solidFill>
                            <a:srgbClr val="FFFFFF"/>
                          </a:solidFill>
                        </a:rPr>
                        <a:t>Test seasons</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c>
                  <a:txBody>
                    <a:bodyPr/>
                    <a:lstStyle/>
                    <a:p>
                      <a:pPr algn="l" indent="0" marL="0">
                        <a:buNone/>
                      </a:pPr>
                      <a:r>
                        <a:rPr lang="en-US" sz="1200" b="1" dirty="0">
                          <a:solidFill>
                            <a:srgbClr val="FFFFFF"/>
                          </a:solidFill>
                        </a:rPr>
                        <a:t>Winner accuracy</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solidFill>
                      <a:srgbClr val="1F2933"/>
                    </a:solidFill>
                  </a:tcPr>
                </a:tc>
              </a:tr>
              <a:tr h="530352">
                <a:tc>
                  <a:txBody>
                    <a:bodyPr/>
                    <a:lstStyle/>
                    <a:p>
                      <a:pPr algn="l" indent="0" marL="0">
                        <a:buNone/>
                      </a:pPr>
                      <a:r>
                        <a:rPr lang="en-US" sz="1200" b="1" dirty="0">
                          <a:solidFill>
                            <a:srgbClr val="1F2933"/>
                          </a:solidFill>
                        </a:rPr>
                        <a:t>Stanford CS229 (as reported)</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l" indent="0" marL="0">
                        <a:buNone/>
                      </a:pPr>
                      <a:r>
                        <a:rPr lang="en-US" sz="1200" dirty="0">
                          <a:solidFill>
                            <a:srgbClr val="1F2933"/>
                          </a:solidFill>
                        </a:rPr>
                        <a:t>Top-3 finalists</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l" indent="0" marL="0">
                        <a:buNone/>
                      </a:pPr>
                      <a:r>
                        <a:rPr lang="en-US" sz="1200" dirty="0">
                          <a:solidFill>
                            <a:srgbClr val="1F2933"/>
                          </a:solidFill>
                        </a:rPr>
                        <a:t>4 seasons, fixed split</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l" indent="0" marL="0">
                        <a:buNone/>
                      </a:pPr>
                      <a:r>
                        <a:rPr lang="en-US" sz="1200" dirty="0">
                          <a:solidFill>
                            <a:srgbClr val="1F2933"/>
                          </a:solidFill>
                        </a:rPr>
                        <a:t>Naive Bayes ≈ 67%</a:t>
                      </a:r>
                      <a:endParaRPr lang="en-US" sz="1200" dirty="0"/>
                    </a:p>
                    <a:p>
                      <a:pPr algn="l" indent="0" marL="0">
                        <a:buNone/>
                      </a:pPr>
                      <a:r>
                        <a:rPr lang="en-US" sz="1200" dirty="0">
                          <a:solidFill>
                            <a:srgbClr val="1F2933"/>
                          </a:solidFill>
                        </a:rPr>
                        <a:t>Logistic ≈ 50%</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658368">
                <a:tc>
                  <a:txBody>
                    <a:bodyPr/>
                    <a:lstStyle/>
                    <a:p>
                      <a:pPr algn="l" indent="0" marL="0">
                        <a:buNone/>
                      </a:pPr>
                      <a:r>
                        <a:rPr lang="en-US" sz="1200" b="1" dirty="0">
                          <a:solidFill>
                            <a:srgbClr val="1F2933"/>
                          </a:solidFill>
                        </a:rPr>
                        <a:t>This project: full pool</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l" indent="0" marL="0">
                        <a:buNone/>
                      </a:pPr>
                      <a:r>
                        <a:rPr lang="en-US" sz="1200" dirty="0">
                          <a:solidFill>
                            <a:srgbClr val="1F2933"/>
                          </a:solidFill>
                        </a:rPr>
                        <a:t>All vote recipients (about 15 per season)</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l" indent="0" marL="0">
                        <a:buNone/>
                      </a:pPr>
                      <a:r>
                        <a:rPr lang="en-US" sz="1200" dirty="0">
                          <a:solidFill>
                            <a:srgbClr val="1F2933"/>
                          </a:solidFill>
                        </a:rPr>
                        <a:t>36 walk-forward seasons</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l" indent="0" marL="0">
                        <a:buNone/>
                      </a:pPr>
                      <a:r>
                        <a:rPr lang="en-US" sz="1200" b="1" dirty="0">
                          <a:solidFill>
                            <a:srgbClr val="C8501E"/>
                          </a:solidFill>
                        </a:rPr>
                        <a:t>Random Forest 69.4%</a:t>
                      </a:r>
                      <a:endParaRPr lang="en-US" sz="1200" dirty="0"/>
                    </a:p>
                    <a:p>
                      <a:pPr algn="l" indent="0" marL="0">
                        <a:buNone/>
                      </a:pPr>
                      <a:r>
                        <a:rPr lang="en-US" sz="1200" b="1" dirty="0">
                          <a:solidFill>
                            <a:srgbClr val="C8501E"/>
                          </a:solidFill>
                        </a:rPr>
                        <a:t>Gradient Boosting 66.7%</a:t>
                      </a:r>
                      <a:endParaRPr lang="en-US" sz="1200" dirty="0"/>
                    </a:p>
                    <a:p>
                      <a:pPr algn="l" indent="0" marL="0">
                        <a:buNone/>
                      </a:pPr>
                      <a:r>
                        <a:rPr lang="en-US" sz="1200" b="1" dirty="0">
                          <a:solidFill>
                            <a:srgbClr val="C8501E"/>
                          </a:solidFill>
                        </a:rPr>
                        <a:t>Ridge 63.9%</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r h="658368">
                <a:tc>
                  <a:txBody>
                    <a:bodyPr/>
                    <a:lstStyle/>
                    <a:p>
                      <a:pPr algn="l" indent="0" marL="0">
                        <a:buNone/>
                      </a:pPr>
                      <a:r>
                        <a:rPr lang="en-US" sz="1200" b="1" dirty="0">
                          <a:solidFill>
                            <a:srgbClr val="1F2933"/>
                          </a:solidFill>
                        </a:rPr>
                        <a:t>This project: finalist-only*</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l" indent="0" marL="0">
                        <a:buNone/>
                      </a:pPr>
                      <a:r>
                        <a:rPr lang="en-US" sz="1200" dirty="0">
                          <a:solidFill>
                            <a:srgbClr val="1F2933"/>
                          </a:solidFill>
                        </a:rPr>
                        <a:t>Actual top-3 vote getters</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l" indent="0" marL="0">
                        <a:buNone/>
                      </a:pPr>
                      <a:r>
                        <a:rPr lang="en-US" sz="1200" dirty="0">
                          <a:solidFill>
                            <a:srgbClr val="1F2933"/>
                          </a:solidFill>
                        </a:rPr>
                        <a:t>Same 36 seasons</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c>
                  <a:txBody>
                    <a:bodyPr/>
                    <a:lstStyle/>
                    <a:p>
                      <a:pPr algn="l" indent="0" marL="0">
                        <a:buNone/>
                      </a:pPr>
                      <a:r>
                        <a:rPr lang="en-US" sz="1200" b="1" dirty="0">
                          <a:solidFill>
                            <a:srgbClr val="C8501E"/>
                          </a:solidFill>
                        </a:rPr>
                        <a:t>Random Forest 69.4%</a:t>
                      </a:r>
                      <a:endParaRPr lang="en-US" sz="1200" dirty="0"/>
                    </a:p>
                    <a:p>
                      <a:pPr algn="l" indent="0" marL="0">
                        <a:buNone/>
                      </a:pPr>
                      <a:r>
                        <a:rPr lang="en-US" sz="1200" b="1" dirty="0">
                          <a:solidFill>
                            <a:srgbClr val="C8501E"/>
                          </a:solidFill>
                        </a:rPr>
                        <a:t>Gradient Boosting 66.7%</a:t>
                      </a:r>
                      <a:endParaRPr lang="en-US" sz="1200" dirty="0"/>
                    </a:p>
                    <a:p>
                      <a:pPr algn="l" indent="0" marL="0">
                        <a:buNone/>
                      </a:pPr>
                      <a:r>
                        <a:rPr lang="en-US" sz="1200" b="1" dirty="0">
                          <a:solidFill>
                            <a:srgbClr val="C8501E"/>
                          </a:solidFill>
                        </a:rPr>
                        <a:t>Ridge 63.9%</a:t>
                      </a:r>
                      <a:endParaRPr lang="en-US" sz="1200" dirty="0"/>
                    </a:p>
                  </a:txBody>
                  <a:tcPr marL="73152" marR="73152" marT="0" marB="0" anchor="ctr">
                    <a:lnL w="0" cap="flat" cmpd="sng" algn="ctr">
                      <a:noFill/>
                    </a:lnL>
                    <a:lnR w="0" cap="flat" cmpd="sng" algn="ctr">
                      <a:noFill/>
                    </a:lnR>
                    <a:lnT w="0" cap="flat" cmpd="sng" algn="ctr">
                      <a:noFill/>
                    </a:lnT>
                    <a:lnB w="9525" cap="flat" cmpd="sng" algn="ctr">
                      <a:solidFill>
                        <a:srgbClr val="E4E1DC"/>
                      </a:solidFill>
                      <a:prstDash val="solid"/>
                      <a:round/>
                      <a:headEnd type="none" w="med" len="med"/>
                      <a:tailEnd type="none" w="med" len="med"/>
                    </a:lnB>
                  </a:tcPr>
                </a:tc>
              </a:tr>
            </a:tbl>
          </a:graphicData>
        </a:graphic>
      </p:graphicFrame>
      <p:sp>
        <p:nvSpPr>
          <p:cNvPr id="6" name="Table footnote"/>
          <p:cNvSpPr txBox="1"/>
          <p:nvPr/>
        </p:nvSpPr>
        <p:spPr>
          <a:xfrm>
            <a:off x="685800" y="3547872"/>
            <a:ext cx="7772400" cy="365760"/>
          </a:xfrm>
          <a:prstGeom prst="rect">
            <a:avLst/>
          </a:prstGeom>
          <a:noFill/>
          <a:ln/>
        </p:spPr>
        <p:txBody>
          <a:bodyPr wrap="square" lIns="0" tIns="0" rIns="0" bIns="0" rtlCol="0" anchor="t"/>
          <a:lstStyle/>
          <a:p>
            <a:pPr indent="0" marL="0">
              <a:buNone/>
            </a:pPr>
            <a:r>
              <a:rPr lang="en-US" sz="1050" dirty="0">
                <a:solidFill>
                  <a:srgbClr val="5F6B76"/>
                </a:solidFill>
              </a:rPr>
              <a:t>*Finalists are picked using the actual vote result, so this approximates Stanford's setup rather than replicating it. Restricting to finalists did not change top-1 accuracy for the three models.</a:t>
            </a:r>
            <a:endParaRPr lang="en-US" sz="1050" dirty="0"/>
          </a:p>
        </p:txBody>
      </p:sp>
      <p:sp>
        <p:nvSpPr>
          <p:cNvPr id="7" name="Verdict card"/>
          <p:cNvSpPr/>
          <p:nvPr/>
        </p:nvSpPr>
        <p:spPr>
          <a:xfrm>
            <a:off x="685800" y="4005072"/>
            <a:ext cx="7772400" cy="640080"/>
          </a:xfrm>
          <a:prstGeom prst="rect">
            <a:avLst/>
          </a:prstGeom>
          <a:solidFill>
            <a:srgbClr val="F3F1EE"/>
          </a:solidFill>
          <a:ln w="12700">
            <a:solidFill>
              <a:srgbClr val="F3F1EE"/>
            </a:solidFill>
            <a:prstDash val="solid"/>
          </a:ln>
        </p:spPr>
      </p:sp>
      <p:sp>
        <p:nvSpPr>
          <p:cNvPr id="8" name="Verdict text"/>
          <p:cNvSpPr txBox="1"/>
          <p:nvPr/>
        </p:nvSpPr>
        <p:spPr>
          <a:xfrm>
            <a:off x="868680" y="4023360"/>
            <a:ext cx="7406640" cy="603504"/>
          </a:xfrm>
          <a:prstGeom prst="rect">
            <a:avLst/>
          </a:prstGeom>
          <a:noFill/>
          <a:ln/>
        </p:spPr>
        <p:txBody>
          <a:bodyPr wrap="square" lIns="0" tIns="0" rIns="0" bIns="0" rtlCol="0" anchor="ctr"/>
          <a:lstStyle/>
          <a:p>
            <a:pPr indent="0" marL="0">
              <a:buNone/>
            </a:pPr>
            <a:r>
              <a:rPr lang="en-US" sz="1300" b="1" dirty="0">
                <a:solidFill>
                  <a:srgbClr val="C8501E"/>
                </a:solidFill>
              </a:rPr>
              <a:t>How to read this: </a:t>
            </a:r>
            <a:pPr indent="0" marL="0">
              <a:buNone/>
            </a:pPr>
            <a:r>
              <a:rPr lang="en-US" sz="1300" dirty="0">
                <a:solidFill>
                  <a:srgbClr val="1F2933"/>
                </a:solidFill>
              </a:rPr>
              <a:t>our accuracy is numerically close to Stanford's Naive Bayes figure, but the datasets, candidate sets and validation differ, so it is a reference, not a head-to-head. We do not claim superiority.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le marker"/>
          <p:cNvSpPr/>
          <p:nvPr/>
        </p:nvSpPr>
        <p:spPr>
          <a:xfrm>
            <a:off x="457200" y="411480"/>
            <a:ext cx="73152" cy="548640"/>
          </a:xfrm>
          <a:prstGeom prst="rect">
            <a:avLst/>
          </a:prstGeom>
          <a:solidFill>
            <a:srgbClr val="C8501E"/>
          </a:solidFill>
          <a:ln w="12700">
            <a:solidFill>
              <a:srgbClr val="C8501E"/>
            </a:solidFill>
            <a:prstDash val="solid"/>
          </a:ln>
        </p:spPr>
      </p:sp>
      <p:sp>
        <p:nvSpPr>
          <p:cNvPr id="3" name="Title"/>
          <p:cNvSpPr txBox="1"/>
          <p:nvPr/>
        </p:nvSpPr>
        <p:spPr>
          <a:xfrm>
            <a:off x="685800" y="365760"/>
            <a:ext cx="7772400" cy="640080"/>
          </a:xfrm>
          <a:prstGeom prst="rect">
            <a:avLst/>
          </a:prstGeom>
          <a:noFill/>
          <a:ln/>
        </p:spPr>
        <p:txBody>
          <a:bodyPr wrap="square" lIns="0" tIns="0" rIns="0" bIns="0" rtlCol="0" anchor="ctr"/>
          <a:lstStyle/>
          <a:p>
            <a:pPr indent="0" marL="0">
              <a:buNone/>
            </a:pPr>
            <a:r>
              <a:rPr lang="en-US" sz="2800" b="1" dirty="0">
                <a:solidFill>
                  <a:srgbClr val="1F2933"/>
                </a:solidFill>
              </a:rPr>
              <a:t>Conclusion</a:t>
            </a:r>
            <a:endParaRPr lang="en-US" sz="2800" dirty="0"/>
          </a:p>
        </p:txBody>
      </p:sp>
      <p:sp>
        <p:nvSpPr>
          <p:cNvPr id="4" name="Page number"/>
          <p:cNvSpPr txBox="1"/>
          <p:nvPr/>
        </p:nvSpPr>
        <p:spPr>
          <a:xfrm>
            <a:off x="8229600" y="4709160"/>
            <a:ext cx="457200" cy="274320"/>
          </a:xfrm>
          <a:prstGeom prst="rect">
            <a:avLst/>
          </a:prstGeom>
          <a:noFill/>
          <a:ln/>
        </p:spPr>
        <p:txBody>
          <a:bodyPr wrap="square" rtlCol="0" anchor="ctr"/>
          <a:lstStyle/>
          <a:p>
            <a:pPr algn="r" indent="0" marL="0">
              <a:buNone/>
            </a:pPr>
            <a:r>
              <a:rPr lang="en-US" sz="1000" dirty="0">
                <a:solidFill>
                  <a:srgbClr val="5F6B76"/>
                </a:solidFill>
              </a:rPr>
              <a:t>12</a:t>
            </a:r>
            <a:endParaRPr lang="en-US" sz="1000" dirty="0"/>
          </a:p>
        </p:txBody>
      </p:sp>
      <p:sp>
        <p:nvSpPr>
          <p:cNvPr id="5" name="Stat card 1"/>
          <p:cNvSpPr/>
          <p:nvPr/>
        </p:nvSpPr>
        <p:spPr>
          <a:xfrm>
            <a:off x="685800" y="1143000"/>
            <a:ext cx="2468880" cy="1051560"/>
          </a:xfrm>
          <a:prstGeom prst="rect">
            <a:avLst/>
          </a:prstGeom>
          <a:solidFill>
            <a:srgbClr val="F3F1EE"/>
          </a:solidFill>
          <a:ln w="12700">
            <a:solidFill>
              <a:srgbClr val="F3F1EE"/>
            </a:solidFill>
            <a:prstDash val="solid"/>
          </a:ln>
        </p:spPr>
      </p:sp>
      <p:sp>
        <p:nvSpPr>
          <p:cNvPr id="6" name="Stat value 1"/>
          <p:cNvSpPr txBox="1"/>
          <p:nvPr/>
        </p:nvSpPr>
        <p:spPr>
          <a:xfrm>
            <a:off x="868680" y="1188720"/>
            <a:ext cx="2103120" cy="502920"/>
          </a:xfrm>
          <a:prstGeom prst="rect">
            <a:avLst/>
          </a:prstGeom>
          <a:noFill/>
          <a:ln/>
        </p:spPr>
        <p:txBody>
          <a:bodyPr wrap="square" lIns="0" tIns="0" rIns="0" bIns="0" rtlCol="0" anchor="ctr"/>
          <a:lstStyle/>
          <a:p>
            <a:pPr indent="0" marL="0">
              <a:buNone/>
            </a:pPr>
            <a:r>
              <a:rPr lang="en-US" sz="2800" b="1" dirty="0">
                <a:solidFill>
                  <a:srgbClr val="C8501E"/>
                </a:solidFill>
              </a:rPr>
              <a:t>69.4%</a:t>
            </a:r>
            <a:endParaRPr lang="en-US" sz="2800" dirty="0"/>
          </a:p>
        </p:txBody>
      </p:sp>
      <p:sp>
        <p:nvSpPr>
          <p:cNvPr id="7" name="Stat label 1"/>
          <p:cNvSpPr txBox="1"/>
          <p:nvPr/>
        </p:nvSpPr>
        <p:spPr>
          <a:xfrm>
            <a:off x="868680" y="1691640"/>
            <a:ext cx="2103120" cy="457200"/>
          </a:xfrm>
          <a:prstGeom prst="rect">
            <a:avLst/>
          </a:prstGeom>
          <a:noFill/>
          <a:ln/>
        </p:spPr>
        <p:txBody>
          <a:bodyPr wrap="square" lIns="0" tIns="0" rIns="0" bIns="0" rtlCol="0" anchor="t"/>
          <a:lstStyle/>
          <a:p>
            <a:pPr indent="0" marL="0">
              <a:buNone/>
            </a:pPr>
            <a:r>
              <a:rPr lang="en-US" sz="1100" dirty="0">
                <a:solidFill>
                  <a:srgbClr val="1F2933"/>
                </a:solidFill>
              </a:rPr>
              <a:t>Random Forest winner accuracy (25 of 36 seasons)</a:t>
            </a:r>
            <a:endParaRPr lang="en-US" sz="1100" dirty="0"/>
          </a:p>
        </p:txBody>
      </p:sp>
      <p:sp>
        <p:nvSpPr>
          <p:cNvPr id="8" name="Stat card 2"/>
          <p:cNvSpPr/>
          <p:nvPr/>
        </p:nvSpPr>
        <p:spPr>
          <a:xfrm>
            <a:off x="3337560" y="1143000"/>
            <a:ext cx="2468880" cy="1051560"/>
          </a:xfrm>
          <a:prstGeom prst="rect">
            <a:avLst/>
          </a:prstGeom>
          <a:solidFill>
            <a:srgbClr val="F3F1EE"/>
          </a:solidFill>
          <a:ln w="12700">
            <a:solidFill>
              <a:srgbClr val="F3F1EE"/>
            </a:solidFill>
            <a:prstDash val="solid"/>
          </a:ln>
        </p:spPr>
      </p:sp>
      <p:sp>
        <p:nvSpPr>
          <p:cNvPr id="9" name="Stat value 2"/>
          <p:cNvSpPr txBox="1"/>
          <p:nvPr/>
        </p:nvSpPr>
        <p:spPr>
          <a:xfrm>
            <a:off x="3520440" y="1188720"/>
            <a:ext cx="2103120" cy="502920"/>
          </a:xfrm>
          <a:prstGeom prst="rect">
            <a:avLst/>
          </a:prstGeom>
          <a:noFill/>
          <a:ln/>
        </p:spPr>
        <p:txBody>
          <a:bodyPr wrap="square" lIns="0" tIns="0" rIns="0" bIns="0" rtlCol="0" anchor="ctr"/>
          <a:lstStyle/>
          <a:p>
            <a:pPr indent="0" marL="0">
              <a:buNone/>
            </a:pPr>
            <a:r>
              <a:rPr lang="en-US" sz="2800" b="1" dirty="0">
                <a:solidFill>
                  <a:srgbClr val="C8501E"/>
                </a:solidFill>
              </a:rPr>
              <a:t>34 / 36</a:t>
            </a:r>
            <a:endParaRPr lang="en-US" sz="2800" dirty="0"/>
          </a:p>
        </p:txBody>
      </p:sp>
      <p:sp>
        <p:nvSpPr>
          <p:cNvPr id="10" name="Stat label 2"/>
          <p:cNvSpPr txBox="1"/>
          <p:nvPr/>
        </p:nvSpPr>
        <p:spPr>
          <a:xfrm>
            <a:off x="3520440" y="1691640"/>
            <a:ext cx="2103120" cy="457200"/>
          </a:xfrm>
          <a:prstGeom prst="rect">
            <a:avLst/>
          </a:prstGeom>
          <a:noFill/>
          <a:ln/>
        </p:spPr>
        <p:txBody>
          <a:bodyPr wrap="square" lIns="0" tIns="0" rIns="0" bIns="0" rtlCol="0" anchor="t"/>
          <a:lstStyle/>
          <a:p>
            <a:pPr indent="0" marL="0">
              <a:buNone/>
            </a:pPr>
            <a:r>
              <a:rPr lang="en-US" sz="1100" dirty="0">
                <a:solidFill>
                  <a:srgbClr val="1F2933"/>
                </a:solidFill>
              </a:rPr>
              <a:t>Seasons with the MVP in Ridge's top three (others: 32/36)</a:t>
            </a:r>
            <a:endParaRPr lang="en-US" sz="1100" dirty="0"/>
          </a:p>
        </p:txBody>
      </p:sp>
      <p:sp>
        <p:nvSpPr>
          <p:cNvPr id="11" name="Stat card 3"/>
          <p:cNvSpPr/>
          <p:nvPr/>
        </p:nvSpPr>
        <p:spPr>
          <a:xfrm>
            <a:off x="5989320" y="1143000"/>
            <a:ext cx="2468880" cy="1051560"/>
          </a:xfrm>
          <a:prstGeom prst="rect">
            <a:avLst/>
          </a:prstGeom>
          <a:solidFill>
            <a:srgbClr val="F3F1EE"/>
          </a:solidFill>
          <a:ln w="12700">
            <a:solidFill>
              <a:srgbClr val="F3F1EE"/>
            </a:solidFill>
            <a:prstDash val="solid"/>
          </a:ln>
        </p:spPr>
      </p:sp>
      <p:sp>
        <p:nvSpPr>
          <p:cNvPr id="12" name="Stat value 3"/>
          <p:cNvSpPr txBox="1"/>
          <p:nvPr/>
        </p:nvSpPr>
        <p:spPr>
          <a:xfrm>
            <a:off x="6172200" y="1188720"/>
            <a:ext cx="2103120" cy="502920"/>
          </a:xfrm>
          <a:prstGeom prst="rect">
            <a:avLst/>
          </a:prstGeom>
          <a:noFill/>
          <a:ln/>
        </p:spPr>
        <p:txBody>
          <a:bodyPr wrap="square" lIns="0" tIns="0" rIns="0" bIns="0" rtlCol="0" anchor="ctr"/>
          <a:lstStyle/>
          <a:p>
            <a:pPr indent="0" marL="0">
              <a:buNone/>
            </a:pPr>
            <a:r>
              <a:rPr lang="en-US" sz="2800" b="1" dirty="0">
                <a:solidFill>
                  <a:srgbClr val="C8501E"/>
                </a:solidFill>
              </a:rPr>
              <a:t>+41.7 pts</a:t>
            </a:r>
            <a:endParaRPr lang="en-US" sz="2800" dirty="0"/>
          </a:p>
        </p:txBody>
      </p:sp>
      <p:sp>
        <p:nvSpPr>
          <p:cNvPr id="13" name="Stat label 3"/>
          <p:cNvSpPr txBox="1"/>
          <p:nvPr/>
        </p:nvSpPr>
        <p:spPr>
          <a:xfrm>
            <a:off x="6172200" y="1691640"/>
            <a:ext cx="2103120" cy="457200"/>
          </a:xfrm>
          <a:prstGeom prst="rect">
            <a:avLst/>
          </a:prstGeom>
          <a:noFill/>
          <a:ln/>
        </p:spPr>
        <p:txBody>
          <a:bodyPr wrap="square" lIns="0" tIns="0" rIns="0" bIns="0" rtlCol="0" anchor="t"/>
          <a:lstStyle/>
          <a:p>
            <a:pPr indent="0" marL="0">
              <a:buNone/>
            </a:pPr>
            <a:r>
              <a:rPr lang="en-US" sz="1100" dirty="0">
                <a:solidFill>
                  <a:srgbClr val="1F2933"/>
                </a:solidFill>
              </a:rPr>
              <a:t>Random Forest over prior-season baseline (p &lt; 0.001)</a:t>
            </a:r>
            <a:endParaRPr lang="en-US" sz="1100" dirty="0"/>
          </a:p>
        </p:txBody>
      </p:sp>
      <p:sp>
        <p:nvSpPr>
          <p:cNvPr id="14" name="Conclusion bullets"/>
          <p:cNvSpPr txBox="1"/>
          <p:nvPr/>
        </p:nvSpPr>
        <p:spPr>
          <a:xfrm>
            <a:off x="685800" y="2514600"/>
            <a:ext cx="7772400" cy="2103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rPr>
              <a:t>Ranking predicted vote shares picks the MVP in roughly two of three held-out seasons, and the winner is almost always in the top three.</a:t>
            </a:r>
            <a:endParaRPr lang="en-US" sz="1300" dirty="0"/>
          </a:p>
          <a:p>
            <a:pPr marL="342900" indent="-342900">
              <a:spcAft>
                <a:spcPts val="600"/>
              </a:spcAft>
              <a:buSzPct val="100000"/>
              <a:buChar char="•"/>
            </a:pPr>
            <a:r>
              <a:rPr lang="en-US" sz="1300" dirty="0">
                <a:solidFill>
                  <a:srgbClr val="1F2933"/>
                </a:solidFill>
              </a:rPr>
              <a:t>All three models clearly beat the prior-season baseline, but none is significantly better than Win Shares-only Ridge or than each other.</a:t>
            </a:r>
            <a:endParaRPr lang="en-US" sz="1300" dirty="0"/>
          </a:p>
          <a:p>
            <a:pPr marL="342900" indent="-342900">
              <a:spcAft>
                <a:spcPts val="600"/>
              </a:spcAft>
              <a:buSzPct val="100000"/>
              <a:buChar char="•"/>
            </a:pPr>
            <a:r>
              <a:rPr lang="en-US" sz="1300" dirty="0">
                <a:solidFill>
                  <a:srgbClr val="1F2933"/>
                </a:solidFill>
              </a:rPr>
              <a:t>Stanford figures are a reference, not a head-to-head: different task, seasons and candidate set.</a:t>
            </a:r>
            <a:endParaRPr lang="en-US" sz="1300" dirty="0"/>
          </a:p>
          <a:p>
            <a:pPr marL="342900" indent="-342900">
              <a:spcAft>
                <a:spcPts val="600"/>
              </a:spcAft>
              <a:buSzPct val="100000"/>
              <a:buChar char="•"/>
            </a:pPr>
            <a:r>
              <a:rPr lang="en-US" sz="1300" dirty="0">
                <a:solidFill>
                  <a:srgbClr val="1F2933"/>
                </a:solidFill>
              </a:rPr>
              <a:t>Limits: voter narratives, injuries and award fatigue are unmeasured; only vote recipients are modelled; hyperparameters are fixed with no validation split.</a:t>
            </a:r>
            <a:endParaRPr lang="en-US" sz="1300" dirty="0"/>
          </a:p>
          <a:p>
            <a:pPr marL="342900" indent="-342900">
              <a:spcAft>
                <a:spcPts val="600"/>
              </a:spcAft>
              <a:buSzPct val="100000"/>
              <a:buChar char="•"/>
            </a:pPr>
            <a:r>
              <a:rPr lang="en-US" sz="1300" dirty="0">
                <a:solidFill>
                  <a:srgbClr val="1F2933"/>
                </a:solidFill>
              </a:rPr>
              <a:t>Next: prior-year vote share as a feature, fuller team context, and a true prospective forecast for the live season.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wins NBA MVP?</dc:title>
  <dc:subject>PptxGenJS Presentation</dc:subject>
  <dc:creator>PptxGenJS</dc:creator>
  <cp:lastModifiedBy>PptxGenJS</cp:lastModifiedBy>
  <cp:revision>1</cp:revision>
  <dcterms:created xsi:type="dcterms:W3CDTF">2026-10-14T18:36:15Z</dcterms:created>
  <dcterms:modified xsi:type="dcterms:W3CDTF">2026-10-14T18:36:15Z</dcterms:modified>
</cp:coreProperties>
</file>