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8501E"/>
          </a:solidFill>
          <a:ln w="12700">
            <a:solidFill>
              <a:srgbClr val="C8501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2933"/>
                </a:solidFill>
              </a:rPr>
              <a:t>Who wins NBA MVP?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B76"/>
                </a:solidFill>
              </a:rPr>
              <a:t>Predicting vote share with walk-forward models, evaluated against a Stanford CS229 baseline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</a:rPr>
              <a:t>Machine learning project  |  NBA MVP prediction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C8501E"/>
          </a:solidFill>
          <a:ln w="12700">
            <a:solidFill>
              <a:srgbClr val="C8501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858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8016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The MVP is not a pure stat leaderboard. Around 100 media members vote, and each player ends up with a share of the possible points.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Voters weigh scoring, efficiency and impact, but also team success and the size of a player's role.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The question is whether those patterns are consistent enough to learn. If they are, past seasons should help us predict later ones.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Using data from 1980–2025, this project evaluates predictions on held-out seasons from 1990–2025.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C8501E"/>
          </a:solidFill>
          <a:ln w="12700">
            <a:solidFill>
              <a:srgbClr val="C8501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858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7772400" cy="1371600"/>
          </a:xfrm>
          <a:prstGeom prst="rect">
            <a:avLst/>
          </a:prstGeom>
          <a:solidFill>
            <a:srgbClr val="F3F1EE"/>
          </a:solidFill>
          <a:ln w="12700">
            <a:solidFill>
              <a:srgbClr val="F3F1E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132588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The MVP is decided by media vote, so the outcome mixes individual stats with team success and narrative. This project builds a regression model on historical seasons, ranks recorded vote recipients by predicted vote share, and picks the top-ranked player as the predicted MVP.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Input: one row per MVP vote recipient per season (box + advanced stats + team context)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Output: predicted vote share per player, then ranked inside each season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Prediction: the player with the highest predicted share is the MVP pick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C8501E"/>
          </a:solidFill>
          <a:ln w="12700">
            <a:solidFill>
              <a:srgbClr val="C8501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858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</a:rPr>
              <a:t>Database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801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</a:rPr>
              <a:t>Source: public master_table.csv (DavidYoo912/nba_mvp), scraped from Basketball-Reference. Covers every player who received MVP votes from 1980–2025.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</a:rPr>
              <a:t>The notebook downloads the CSV directly (no local database). After cleaning: 724 player-seasons, 45 original columns.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</a:rPr>
              <a:t>Each row is one player in one season: age, games, minutes, points, rebounds, assists, steals, blocks, shooting percentages,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</a:rPr>
              <a:t>PER, true shooting, win shares, BPM, VORP, usage rate, plus team wins, win %, and playoff seed.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</a:rPr>
              <a:t>Target is Share — the fraction of possible MVP voting points. Only vote recipients are in the table.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1280160"/>
            <a:ext cx="2743200" cy="3200400"/>
          </a:xfrm>
          <a:prstGeom prst="rect">
            <a:avLst/>
          </a:prstGeom>
          <a:solidFill>
            <a:srgbClr val="F3F1EE"/>
          </a:solidFill>
          <a:ln w="12700">
            <a:solidFill>
              <a:srgbClr val="F3F1E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943600" y="1389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01E"/>
                </a:solidFill>
              </a:rPr>
              <a:t>Cleaning rules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78308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Keep seasons 1980 and later; drop missing Share or Player; check for ties at the maximum vote share in each season.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No extra games filter beyond what the source already contains.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Leakage columns (Rank, First, Pts Won, Pts Max, Share) are blocked from features.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Missing values are filled with the median inside each model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C8501E"/>
          </a:solidFill>
          <a:ln w="12700">
            <a:solidFill>
              <a:srgbClr val="C8501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858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</a:rPr>
              <a:t>Solution: how the model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2468880" cy="3108960"/>
          </a:xfrm>
          <a:prstGeom prst="rect">
            <a:avLst/>
          </a:prstGeom>
          <a:solidFill>
            <a:srgbClr val="F3F1EE"/>
          </a:solidFill>
          <a:ln w="12700">
            <a:solidFill>
              <a:srgbClr val="F3F1E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1389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01E"/>
                </a:solidFill>
              </a:rPr>
              <a:t>1. Features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783080"/>
            <a:ext cx="2103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32 numeric predictors: Age, G, MP, PTS, TRB, AST, STL, BLK, FG%, 3P%, FT%, WS, WS/48, W, W/L%, seed, PER, TS%, 3PAr, FTr, rebound/assist/steal/block %, TOV%, USG%, OBPM, DBPM, BPM, VORP.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468880" cy="3108960"/>
          </a:xfrm>
          <a:prstGeom prst="rect">
            <a:avLst/>
          </a:prstGeom>
          <a:solidFill>
            <a:srgbClr val="F3F1EE"/>
          </a:solidFill>
          <a:ln w="12700">
            <a:solidFill>
              <a:srgbClr val="F3F1E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520440" y="1389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01E"/>
                </a:solidFill>
              </a:rPr>
              <a:t>2. No leakage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783080"/>
            <a:ext cx="2103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Identifiers, vote columns (Share, Rank, First, Pts Won/Max) and any column containing 'share'/'vote'/'mvp' are blocked. Only non-voting predictor columns are used; season-level statistics are available after the season.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1280160"/>
            <a:ext cx="2468880" cy="3108960"/>
          </a:xfrm>
          <a:prstGeom prst="rect">
            <a:avLst/>
          </a:prstGeom>
          <a:solidFill>
            <a:srgbClr val="F3F1EE"/>
          </a:solidFill>
          <a:ln w="12700">
            <a:solidFill>
              <a:srgbClr val="F3F1E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72200" y="1389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01E"/>
                </a:solidFill>
              </a:rPr>
              <a:t>3. Target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783080"/>
            <a:ext cx="2103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Continuous regression on Share (0–1). Predictions clipped to [0,1], ranked within the season; highest predicted share = predicted MVP.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C8501E"/>
          </a:solidFill>
          <a:ln w="12700">
            <a:solidFill>
              <a:srgbClr val="C8501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858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</a:rPr>
              <a:t>Solution: models and testing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</a:rPr>
              <a:t>Three regressors + two baselines: Ridge (α=10), Random Forest (400 trees, min_samples_leaf=2), HistGradientBoosting (250 iter, lr=0.04).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</a:rPr>
              <a:t>Expanding-window walk-forward: train on all seasons before N, test on N. Starts at 1990 (10 prior seasons). 36 held-out seasons total.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</a:rPr>
              <a:t>Baselines: prior-season Share of the same player, and a Ridge model that uses only Win Shares.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</a:rPr>
              <a:t>Primary metric is season winner accuracy (Top-1). MAE and RMSE on vote share are reported for every model.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</a:rPr>
              <a:t>No future leakage: features and labels from season N are never seen until that season is the test fold.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C8501E"/>
          </a:solidFill>
          <a:ln w="12700">
            <a:solidFill>
              <a:srgbClr val="C8501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858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</a:rPr>
              <a:t>How results are measured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2468880" cy="1463040"/>
          </a:xfrm>
          <a:prstGeom prst="rect">
            <a:avLst/>
          </a:prstGeom>
          <a:solidFill>
            <a:srgbClr val="F3F1EE"/>
          </a:solidFill>
          <a:ln w="12700">
            <a:solidFill>
              <a:srgbClr val="F3F1E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1389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01E"/>
                </a:solidFill>
              </a:rPr>
              <a:t>Top-1 accuracy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Did the model's highest predicted share match the actual MVP?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468880" cy="1463040"/>
          </a:xfrm>
          <a:prstGeom prst="rect">
            <a:avLst/>
          </a:prstGeom>
          <a:solidFill>
            <a:srgbClr val="F3F1EE"/>
          </a:solidFill>
          <a:ln w="12700">
            <a:solidFill>
              <a:srgbClr val="F3F1E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520440" y="1389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01E"/>
                </a:solidFill>
              </a:rPr>
              <a:t>Wilson 95% CI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Confidence interval around winner accuracy across 36 seasons.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1280160"/>
            <a:ext cx="2468880" cy="1463040"/>
          </a:xfrm>
          <a:prstGeom prst="rect">
            <a:avLst/>
          </a:prstGeom>
          <a:solidFill>
            <a:srgbClr val="F3F1EE"/>
          </a:solidFill>
          <a:ln w="12700">
            <a:solidFill>
              <a:srgbClr val="F3F1E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72200" y="1389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01E"/>
                </a:solidFill>
              </a:rPr>
              <a:t>Paired tests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Exact binomial test on seasons where models disagree.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2926080"/>
            <a:ext cx="2468880" cy="1463040"/>
          </a:xfrm>
          <a:prstGeom prst="rect">
            <a:avLst/>
          </a:prstGeom>
          <a:solidFill>
            <a:srgbClr val="F3F1EE"/>
          </a:solidFill>
          <a:ln w="12700">
            <a:solidFill>
              <a:srgbClr val="F3F1E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68680" y="3035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01E"/>
                </a:solidFill>
              </a:rPr>
              <a:t>MAE / RMSE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429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How far off the predicted vote shares are from actual Share.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37560" y="2926080"/>
            <a:ext cx="2468880" cy="1463040"/>
          </a:xfrm>
          <a:prstGeom prst="rect">
            <a:avLst/>
          </a:prstGeom>
          <a:solidFill>
            <a:srgbClr val="F3F1EE"/>
          </a:solidFill>
          <a:ln w="12700">
            <a:solidFill>
              <a:srgbClr val="F3F1E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3520440" y="3035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01E"/>
                </a:solidFill>
              </a:rPr>
              <a:t>Baselines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429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Prior-season share (~28%) and Win Shares-only Ridge (~58%).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2926080"/>
            <a:ext cx="2468880" cy="1463040"/>
          </a:xfrm>
          <a:prstGeom prst="rect">
            <a:avLst/>
          </a:prstGeom>
          <a:solidFill>
            <a:srgbClr val="F3F1EE"/>
          </a:solidFill>
          <a:ln w="12700">
            <a:solidFill>
              <a:srgbClr val="F3F1E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172200" y="3035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01E"/>
                </a:solidFill>
              </a:rPr>
              <a:t>Results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429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Random Forest 69.4% (25/36), Gradient Boosting 66.7%, Ridge 63.9%.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C8501E"/>
          </a:solidFill>
          <a:ln w="12700">
            <a:solidFill>
              <a:srgbClr val="C8501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858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MVP voting can be treated as a ranking problem: predict share for every recorded vote recipient, then pick the top name.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Expanding-window testing evaluates 36 held-out seasons, compared with the paper's fixed 4-season split; the different setups limit direct comparison.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Random Forest achieved 69.4% season-winner accuracy across 36 held-out seasons. This is numerically above the reported Stanford CS229 figures, but differences in datasets, tasks and validation protocols limit direct comparison.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Limits: narrative, injuries and award fatigue are not in the stats. Close races stay hard.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Next steps: add prior-year vote share as a feature, fuller team context, and a true prospective forecast for the live season.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2026-10-03T10:29:29Z</dcterms:created>
  <dcterms:modified xsi:type="dcterms:W3CDTF">2026-10-03T10:29:29Z</dcterms:modified>
</cp:coreProperties>
</file>